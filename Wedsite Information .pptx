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24"/>
  </p:normalViewPr>
  <p:slideViewPr>
    <p:cSldViewPr snapToGrid="0">
      <p:cViewPr varScale="1">
        <p:scale>
          <a:sx n="106" d="100"/>
          <a:sy n="106" d="100"/>
        </p:scale>
        <p:origin x="6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536D6-25E4-7847-D4B9-46C3B601F8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26C5E8-6504-BFB1-E337-143152E60D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09B456-4DCE-7990-13D6-AC67C5C7308F}"/>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5" name="Footer Placeholder 4">
            <a:extLst>
              <a:ext uri="{FF2B5EF4-FFF2-40B4-BE49-F238E27FC236}">
                <a16:creationId xmlns:a16="http://schemas.microsoft.com/office/drawing/2014/main" id="{D63F4C07-30A0-79E9-5C4E-BE6E0FAD6A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3BC7CF-3477-D1B2-7BFF-968B2978E515}"/>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109986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7D9D0-575A-CA2E-5D0B-A9753BD124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93DA07-E23E-6939-CD36-E90D051DD7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D7B819-47EB-AFAC-8D83-A3CEFAE9490D}"/>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5" name="Footer Placeholder 4">
            <a:extLst>
              <a:ext uri="{FF2B5EF4-FFF2-40B4-BE49-F238E27FC236}">
                <a16:creationId xmlns:a16="http://schemas.microsoft.com/office/drawing/2014/main" id="{B7A72FF7-1D93-9FC3-5BDE-C64BDA3180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D35FF4-6CD4-6680-77E8-74698FF7B138}"/>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3699270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EE3E7-A73E-748E-13DA-3E5AF2F4A6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006039-CA23-57F2-82EC-DFAD9A0B40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17B6DE-556B-7E4F-48F4-10A8FA8AE56C}"/>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5" name="Footer Placeholder 4">
            <a:extLst>
              <a:ext uri="{FF2B5EF4-FFF2-40B4-BE49-F238E27FC236}">
                <a16:creationId xmlns:a16="http://schemas.microsoft.com/office/drawing/2014/main" id="{82AA5B2F-88A1-138F-F920-5E63DD224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D167A-1F25-8DF6-7F41-A3385036E250}"/>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1818971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66D95-6C12-BED1-4A38-6EB1822A7B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D5120A-AD8F-C544-7989-37BC46E3F7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8B8FC2-DB07-3C77-DB26-3FF47499FF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071AD5-0D55-3EDD-A970-3FE2E93DD5F8}"/>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6" name="Footer Placeholder 5">
            <a:extLst>
              <a:ext uri="{FF2B5EF4-FFF2-40B4-BE49-F238E27FC236}">
                <a16:creationId xmlns:a16="http://schemas.microsoft.com/office/drawing/2014/main" id="{668FC5E4-D270-12F8-B464-672897D571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9A5375-868F-D4FE-61BF-BB245E96F043}"/>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3062446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CA36F-2E45-68F0-AD0E-60F7A394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80006-6D26-D242-6952-57BC20C25D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5565CE-54A2-3897-829A-3C5382C153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EDE781-75CA-13CB-B0F9-092A1CD89A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1CD3F4-D11F-6682-D28C-3B3107898D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2782D0-5ACE-A470-4B63-DCE2DE329E80}"/>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8" name="Footer Placeholder 7">
            <a:extLst>
              <a:ext uri="{FF2B5EF4-FFF2-40B4-BE49-F238E27FC236}">
                <a16:creationId xmlns:a16="http://schemas.microsoft.com/office/drawing/2014/main" id="{4CE3FE9A-1908-91F9-95BF-9D7633CC53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7B9784D-F378-B1D1-873C-02ED7BFABAB8}"/>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251042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6D7B0-494B-ACBE-0CE7-0D9584535E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CDC5EF-43C1-76DD-99D1-8491413BD0BF}"/>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4" name="Footer Placeholder 3">
            <a:extLst>
              <a:ext uri="{FF2B5EF4-FFF2-40B4-BE49-F238E27FC236}">
                <a16:creationId xmlns:a16="http://schemas.microsoft.com/office/drawing/2014/main" id="{0B592B0D-F230-F8EC-2887-47FD4BF357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59CF5D-1D1A-E8C0-7264-C383461B0206}"/>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1115450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DB6049-14F1-1C92-4614-5081FE4B15EC}"/>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3" name="Footer Placeholder 2">
            <a:extLst>
              <a:ext uri="{FF2B5EF4-FFF2-40B4-BE49-F238E27FC236}">
                <a16:creationId xmlns:a16="http://schemas.microsoft.com/office/drawing/2014/main" id="{EA841DB2-182D-2DD3-CC9A-E711A6AD61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53580E-FF8B-0A9E-2E7D-3DB01F4F739B}"/>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968212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88A4E-714D-3DD9-7A09-D6CEA6472A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48B19D-B944-B518-B68F-6229E53A49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58BED7-4FDC-4AD6-D213-5077E1716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E50A4D-6201-AB01-0B14-6DA49357F9FE}"/>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6" name="Footer Placeholder 5">
            <a:extLst>
              <a:ext uri="{FF2B5EF4-FFF2-40B4-BE49-F238E27FC236}">
                <a16:creationId xmlns:a16="http://schemas.microsoft.com/office/drawing/2014/main" id="{45466BAD-2C46-DE14-872A-070B56B4B8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10FF5-8B24-AF9E-CE91-854FFC42759E}"/>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233736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011B4-8C6B-8DB5-3A9E-D9CE126788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E87DF6-8652-BBAB-B39F-8FB12241A7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021647-5702-1867-5D63-985E6377D8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B6CFFD-B665-FF51-23EC-0E8A53B4EEC5}"/>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6" name="Footer Placeholder 5">
            <a:extLst>
              <a:ext uri="{FF2B5EF4-FFF2-40B4-BE49-F238E27FC236}">
                <a16:creationId xmlns:a16="http://schemas.microsoft.com/office/drawing/2014/main" id="{4896582D-BC13-6F37-F05C-D79BE78E8C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535B41-4244-2B05-453F-067300A77FD2}"/>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4236139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F992D-EC41-9407-5B5B-C5986A26F7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3C7750-0372-48AC-9659-0E98E6683C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8F9B3A-E1C0-DA9C-C078-5129A10629BF}"/>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5" name="Footer Placeholder 4">
            <a:extLst>
              <a:ext uri="{FF2B5EF4-FFF2-40B4-BE49-F238E27FC236}">
                <a16:creationId xmlns:a16="http://schemas.microsoft.com/office/drawing/2014/main" id="{D1DA9DDC-4883-AD2C-AD0A-2809DE77F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7FF1D5-83AB-57EF-8377-D1B8370FD106}"/>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258052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7066DB-C7F4-3C04-67AF-468CB581AC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FA49B8-4281-9644-4E90-9A6928339F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E8C4A3-42DB-1105-92CD-D2DFE5B2B48A}"/>
              </a:ext>
            </a:extLst>
          </p:cNvPr>
          <p:cNvSpPr>
            <a:spLocks noGrp="1"/>
          </p:cNvSpPr>
          <p:nvPr>
            <p:ph type="dt" sz="half" idx="10"/>
          </p:nvPr>
        </p:nvSpPr>
        <p:spPr/>
        <p:txBody>
          <a:bodyPr/>
          <a:lstStyle/>
          <a:p>
            <a:fld id="{6B1E657D-2625-0146-ABD9-694ED0A570D7}" type="datetimeFigureOut">
              <a:rPr lang="en-US" smtClean="0"/>
              <a:t>9/7/26</a:t>
            </a:fld>
            <a:endParaRPr lang="en-US"/>
          </a:p>
        </p:txBody>
      </p:sp>
      <p:sp>
        <p:nvSpPr>
          <p:cNvPr id="5" name="Footer Placeholder 4">
            <a:extLst>
              <a:ext uri="{FF2B5EF4-FFF2-40B4-BE49-F238E27FC236}">
                <a16:creationId xmlns:a16="http://schemas.microsoft.com/office/drawing/2014/main" id="{24CF86F9-2781-2E8A-F138-C693EDF34F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40D35E-B735-DE58-6A0A-0291B52FC0D2}"/>
              </a:ext>
            </a:extLst>
          </p:cNvPr>
          <p:cNvSpPr>
            <a:spLocks noGrp="1"/>
          </p:cNvSpPr>
          <p:nvPr>
            <p:ph type="sldNum" sz="quarter" idx="12"/>
          </p:nvPr>
        </p:nvSpPr>
        <p:spPr/>
        <p:txBody>
          <a:bodyPr/>
          <a:lstStyle/>
          <a:p>
            <a:fld id="{E1932B08-F808-3E48-BB58-F1A0A3A64877}" type="slidenum">
              <a:rPr lang="en-US" smtClean="0"/>
              <a:t>‹#›</a:t>
            </a:fld>
            <a:endParaRPr lang="en-US"/>
          </a:p>
        </p:txBody>
      </p:sp>
    </p:spTree>
    <p:extLst>
      <p:ext uri="{BB962C8B-B14F-4D97-AF65-F5344CB8AC3E}">
        <p14:creationId xmlns:p14="http://schemas.microsoft.com/office/powerpoint/2010/main" val="3812672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3A715F-6816-7E5C-9470-8D2EE306A4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933AB7-4C46-871C-B363-8162EAAE9C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D7BEE-75AC-6F4B-3836-478415CF53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1E657D-2625-0146-ABD9-694ED0A570D7}" type="datetimeFigureOut">
              <a:rPr lang="en-US" smtClean="0"/>
              <a:t>9/7/26</a:t>
            </a:fld>
            <a:endParaRPr lang="en-US"/>
          </a:p>
        </p:txBody>
      </p:sp>
      <p:sp>
        <p:nvSpPr>
          <p:cNvPr id="5" name="Footer Placeholder 4">
            <a:extLst>
              <a:ext uri="{FF2B5EF4-FFF2-40B4-BE49-F238E27FC236}">
                <a16:creationId xmlns:a16="http://schemas.microsoft.com/office/drawing/2014/main" id="{0815BA47-CD2C-CC30-BB3B-77EB3035E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C6B9F7-323B-289B-393C-9BDEA2CE6F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932B08-F808-3E48-BB58-F1A0A3A64877}" type="slidenum">
              <a:rPr lang="en-US" smtClean="0"/>
              <a:t>‹#›</a:t>
            </a:fld>
            <a:endParaRPr lang="en-US"/>
          </a:p>
        </p:txBody>
      </p:sp>
    </p:spTree>
    <p:extLst>
      <p:ext uri="{BB962C8B-B14F-4D97-AF65-F5344CB8AC3E}">
        <p14:creationId xmlns:p14="http://schemas.microsoft.com/office/powerpoint/2010/main" val="3476769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www.fortishealthcare.com/location/fortis-escorts-heart-institute-new-delhi?utm_source=chatgpt.com" TargetMode="External"/><Relationship Id="rId13" Type="http://schemas.openxmlformats.org/officeDocument/2006/relationships/hyperlink" Target="https://www.parkhospital.in/?utm_source=chatgpt.com" TargetMode="External"/><Relationship Id="rId3" Type="http://schemas.openxmlformats.org/officeDocument/2006/relationships/hyperlink" Target="https://www.manipalhospitals.com/?utm_source=chatgpt.com" TargetMode="External"/><Relationship Id="rId7" Type="http://schemas.openxmlformats.org/officeDocument/2006/relationships/hyperlink" Target="https://www.medanta.org/?utm_source=chatgpt.com" TargetMode="External"/><Relationship Id="rId12" Type="http://schemas.openxmlformats.org/officeDocument/2006/relationships/hyperlink" Target="https://www.kokilabenhospital.com/?utm_source=chatgpt.com" TargetMode="External"/><Relationship Id="rId2" Type="http://schemas.openxmlformats.org/officeDocument/2006/relationships/hyperlink" Target="https://www.apollohospitals.com/?utm_source=chatgpt.com" TargetMode="External"/><Relationship Id="rId16" Type="http://schemas.openxmlformats.org/officeDocument/2006/relationships/hyperlink" Target="https://www.asterhospitals.in/hospitals/aster-prime-hyderabad?utm_source=chatgpt.com" TargetMode="External"/><Relationship Id="rId1" Type="http://schemas.openxmlformats.org/officeDocument/2006/relationships/slideLayout" Target="../slideLayouts/slideLayout2.xml"/><Relationship Id="rId6" Type="http://schemas.openxmlformats.org/officeDocument/2006/relationships/hyperlink" Target="https://www.lilavatihospital.com/?utm_source=chatgpt.com" TargetMode="External"/><Relationship Id="rId11" Type="http://schemas.openxmlformats.org/officeDocument/2006/relationships/hyperlink" Target="https://www.rfhospital.org/?utm_source=chatgpt.com" TargetMode="External"/><Relationship Id="rId5" Type="http://schemas.openxmlformats.org/officeDocument/2006/relationships/hyperlink" Target="https://www.yashodahospitals.com/?utm_source=chatgpt.com" TargetMode="External"/><Relationship Id="rId15" Type="http://schemas.openxmlformats.org/officeDocument/2006/relationships/hyperlink" Target="https://www.miotinternational.com/?utm_source=chatgpt.com" TargetMode="External"/><Relationship Id="rId10" Type="http://schemas.openxmlformats.org/officeDocument/2006/relationships/hyperlink" Target="https://www.maxhealthcare.in/?utm_source=chatgpt.com" TargetMode="External"/><Relationship Id="rId4" Type="http://schemas.openxmlformats.org/officeDocument/2006/relationships/hyperlink" Target="https://www.kimshospitals.com/?utm_source=chatgpt.com" TargetMode="External"/><Relationship Id="rId9" Type="http://schemas.openxmlformats.org/officeDocument/2006/relationships/hyperlink" Target="https://www.parashospitals.com/?utm_source=chatgpt.com" TargetMode="External"/><Relationship Id="rId14" Type="http://schemas.openxmlformats.org/officeDocument/2006/relationships/hyperlink" Target="https://www.sankaranethralaya.org/?utm_source=chatgpt.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uicc.org/membership/enn-rev-enn-sourir?utm_source=chatgpt.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uicc.org/membership/enn-rev-enn-sourir?utm_source=chatgpt.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mailto:info@med360.mu"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0FAD4-A1EC-8516-D589-FC26588C26BB}"/>
              </a:ext>
            </a:extLst>
          </p:cNvPr>
          <p:cNvSpPr>
            <a:spLocks noGrp="1"/>
          </p:cNvSpPr>
          <p:nvPr>
            <p:ph type="ctrTitle"/>
          </p:nvPr>
        </p:nvSpPr>
        <p:spPr/>
        <p:txBody>
          <a:bodyPr/>
          <a:lstStyle/>
          <a:p>
            <a:r>
              <a:rPr lang="en-US" dirty="0"/>
              <a:t>Med360 ltd</a:t>
            </a:r>
          </a:p>
        </p:txBody>
      </p:sp>
      <p:sp>
        <p:nvSpPr>
          <p:cNvPr id="3" name="Subtitle 2">
            <a:extLst>
              <a:ext uri="{FF2B5EF4-FFF2-40B4-BE49-F238E27FC236}">
                <a16:creationId xmlns:a16="http://schemas.microsoft.com/office/drawing/2014/main" id="{04F05B9A-05AB-27F1-A1CB-9F0972505BF8}"/>
              </a:ext>
            </a:extLst>
          </p:cNvPr>
          <p:cNvSpPr>
            <a:spLocks noGrp="1"/>
          </p:cNvSpPr>
          <p:nvPr>
            <p:ph type="subTitle" idx="1"/>
          </p:nvPr>
        </p:nvSpPr>
        <p:spPr/>
        <p:txBody>
          <a:bodyPr/>
          <a:lstStyle/>
          <a:p>
            <a:r>
              <a:rPr lang="en-US" dirty="0"/>
              <a:t>Website</a:t>
            </a:r>
          </a:p>
        </p:txBody>
      </p:sp>
    </p:spTree>
    <p:extLst>
      <p:ext uri="{BB962C8B-B14F-4D97-AF65-F5344CB8AC3E}">
        <p14:creationId xmlns:p14="http://schemas.microsoft.com/office/powerpoint/2010/main" val="1202924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431A7D8-79D3-711E-1339-D6E746DC5FDF}"/>
              </a:ext>
            </a:extLst>
          </p:cNvPr>
          <p:cNvPicPr>
            <a:picLocks noChangeAspect="1"/>
          </p:cNvPicPr>
          <p:nvPr/>
        </p:nvPicPr>
        <p:blipFill>
          <a:blip r:embed="rId2"/>
          <a:srcRect r="6553" b="1"/>
          <a:stretch>
            <a:fillRect/>
          </a:stretch>
        </p:blipFill>
        <p:spPr>
          <a:xfrm>
            <a:off x="457200" y="457200"/>
            <a:ext cx="11277600" cy="5943600"/>
          </a:xfrm>
          <a:prstGeom prst="rect">
            <a:avLst/>
          </a:prstGeom>
        </p:spPr>
      </p:pic>
      <p:sp>
        <p:nvSpPr>
          <p:cNvPr id="8" name="Rectangle 7">
            <a:extLst>
              <a:ext uri="{FF2B5EF4-FFF2-40B4-BE49-F238E27FC236}">
                <a16:creationId xmlns:a16="http://schemas.microsoft.com/office/drawing/2014/main" id="{D63A52EE-A9E5-0B99-9F75-D5E1EBFF68D6}"/>
              </a:ext>
            </a:extLst>
          </p:cNvPr>
          <p:cNvSpPr/>
          <p:nvPr/>
        </p:nvSpPr>
        <p:spPr>
          <a:xfrm>
            <a:off x="1612232" y="2334126"/>
            <a:ext cx="6208294" cy="1179095"/>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p>
        </p:txBody>
      </p:sp>
      <p:sp>
        <p:nvSpPr>
          <p:cNvPr id="9" name="TextBox 8">
            <a:extLst>
              <a:ext uri="{FF2B5EF4-FFF2-40B4-BE49-F238E27FC236}">
                <a16:creationId xmlns:a16="http://schemas.microsoft.com/office/drawing/2014/main" id="{4F415839-2851-55D1-995A-5B72E8C41E52}"/>
              </a:ext>
            </a:extLst>
          </p:cNvPr>
          <p:cNvSpPr txBox="1"/>
          <p:nvPr/>
        </p:nvSpPr>
        <p:spPr>
          <a:xfrm>
            <a:off x="1335505" y="2815389"/>
            <a:ext cx="428414" cy="369332"/>
          </a:xfrm>
          <a:prstGeom prst="rect">
            <a:avLst/>
          </a:prstGeom>
          <a:noFill/>
        </p:spPr>
        <p:txBody>
          <a:bodyPr wrap="square" rtlCol="0">
            <a:spAutoFit/>
          </a:bodyPr>
          <a:lstStyle/>
          <a:p>
            <a:r>
              <a:rPr lang="en-US" dirty="0"/>
              <a:t>1</a:t>
            </a:r>
          </a:p>
        </p:txBody>
      </p:sp>
      <p:sp>
        <p:nvSpPr>
          <p:cNvPr id="11" name="TextBox 10">
            <a:extLst>
              <a:ext uri="{FF2B5EF4-FFF2-40B4-BE49-F238E27FC236}">
                <a16:creationId xmlns:a16="http://schemas.microsoft.com/office/drawing/2014/main" id="{684AE83C-AC55-7E9A-6970-3DC4A2C63991}"/>
              </a:ext>
            </a:extLst>
          </p:cNvPr>
          <p:cNvSpPr txBox="1"/>
          <p:nvPr/>
        </p:nvSpPr>
        <p:spPr>
          <a:xfrm>
            <a:off x="10579768" y="3428999"/>
            <a:ext cx="821446" cy="369332"/>
          </a:xfrm>
          <a:prstGeom prst="rect">
            <a:avLst/>
          </a:prstGeom>
          <a:noFill/>
        </p:spPr>
        <p:txBody>
          <a:bodyPr wrap="square" rtlCol="0">
            <a:spAutoFit/>
          </a:bodyPr>
          <a:lstStyle/>
          <a:p>
            <a:r>
              <a:rPr lang="en-US" dirty="0"/>
              <a:t>2</a:t>
            </a:r>
          </a:p>
        </p:txBody>
      </p:sp>
      <p:sp>
        <p:nvSpPr>
          <p:cNvPr id="13" name="Rectangle 12">
            <a:extLst>
              <a:ext uri="{FF2B5EF4-FFF2-40B4-BE49-F238E27FC236}">
                <a16:creationId xmlns:a16="http://schemas.microsoft.com/office/drawing/2014/main" id="{9D79B0D1-F775-03B9-626F-72DE999A9F18}"/>
              </a:ext>
            </a:extLst>
          </p:cNvPr>
          <p:cNvSpPr/>
          <p:nvPr/>
        </p:nvSpPr>
        <p:spPr>
          <a:xfrm>
            <a:off x="8301789" y="3184721"/>
            <a:ext cx="2851485" cy="70147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4463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BE5C2-A239-6C09-3786-A3BDABA67D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6C67F3-1088-F319-7147-803D9F750A73}"/>
              </a:ext>
            </a:extLst>
          </p:cNvPr>
          <p:cNvSpPr>
            <a:spLocks noGrp="1"/>
          </p:cNvSpPr>
          <p:nvPr>
            <p:ph idx="1"/>
          </p:nvPr>
        </p:nvSpPr>
        <p:spPr/>
        <p:txBody>
          <a:bodyPr/>
          <a:lstStyle/>
          <a:p>
            <a:r>
              <a:rPr lang="en-US" dirty="0"/>
              <a:t>1. World-Class Healthcare. Without the Wait. With the Dignity You Deserve.</a:t>
            </a:r>
            <a:br>
              <a:rPr lang="en-US" dirty="0"/>
            </a:br>
            <a:br>
              <a:rPr lang="en-US" dirty="0"/>
            </a:br>
            <a:r>
              <a:rPr lang="en-US" dirty="0"/>
              <a:t>2. +3,000</a:t>
            </a:r>
          </a:p>
        </p:txBody>
      </p:sp>
    </p:spTree>
    <p:extLst>
      <p:ext uri="{BB962C8B-B14F-4D97-AF65-F5344CB8AC3E}">
        <p14:creationId xmlns:p14="http://schemas.microsoft.com/office/powerpoint/2010/main" val="3592136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7C675-FD9E-9353-8296-D469F3371CD5}"/>
              </a:ext>
            </a:extLst>
          </p:cNvPr>
          <p:cNvSpPr>
            <a:spLocks noGrp="1"/>
          </p:cNvSpPr>
          <p:nvPr>
            <p:ph type="title"/>
          </p:nvPr>
        </p:nvSpPr>
        <p:spPr/>
        <p:txBody>
          <a:bodyPr/>
          <a:lstStyle/>
          <a:p>
            <a:r>
              <a:rPr lang="en-US" b="1" cap="all" dirty="0"/>
              <a:t>Specialties</a:t>
            </a:r>
            <a:endParaRPr lang="en-US" dirty="0"/>
          </a:p>
        </p:txBody>
      </p:sp>
      <p:sp>
        <p:nvSpPr>
          <p:cNvPr id="3" name="Content Placeholder 2">
            <a:extLst>
              <a:ext uri="{FF2B5EF4-FFF2-40B4-BE49-F238E27FC236}">
                <a16:creationId xmlns:a16="http://schemas.microsoft.com/office/drawing/2014/main" id="{C3F9D091-0590-7623-8790-527C02F10A01}"/>
              </a:ext>
            </a:extLst>
          </p:cNvPr>
          <p:cNvSpPr>
            <a:spLocks noGrp="1"/>
          </p:cNvSpPr>
          <p:nvPr>
            <p:ph idx="1"/>
          </p:nvPr>
        </p:nvSpPr>
        <p:spPr/>
        <p:txBody>
          <a:bodyPr>
            <a:normAutofit/>
          </a:bodyPr>
          <a:lstStyle/>
          <a:p>
            <a:endParaRPr lang="en-US" b="1" dirty="0"/>
          </a:p>
          <a:p>
            <a:endParaRPr lang="en-US" b="1" dirty="0"/>
          </a:p>
          <a:p>
            <a:endParaRPr lang="en-US" dirty="0"/>
          </a:p>
        </p:txBody>
      </p:sp>
      <p:sp>
        <p:nvSpPr>
          <p:cNvPr id="7" name="TextBox 6">
            <a:extLst>
              <a:ext uri="{FF2B5EF4-FFF2-40B4-BE49-F238E27FC236}">
                <a16:creationId xmlns:a16="http://schemas.microsoft.com/office/drawing/2014/main" id="{EB1DB6F5-099E-B0FC-6D72-8F3DF680F2AA}"/>
              </a:ext>
            </a:extLst>
          </p:cNvPr>
          <p:cNvSpPr txBox="1"/>
          <p:nvPr/>
        </p:nvSpPr>
        <p:spPr>
          <a:xfrm>
            <a:off x="8301789" y="681038"/>
            <a:ext cx="6526490" cy="646331"/>
          </a:xfrm>
          <a:prstGeom prst="rect">
            <a:avLst/>
          </a:prstGeom>
          <a:noFill/>
        </p:spPr>
        <p:txBody>
          <a:bodyPr wrap="square" rtlCol="0">
            <a:spAutoFit/>
          </a:bodyPr>
          <a:lstStyle/>
          <a:p>
            <a:pPr fontAlgn="ctr"/>
            <a:endParaRPr lang="en-US" dirty="0"/>
          </a:p>
          <a:p>
            <a:endParaRPr lang="en-US" dirty="0"/>
          </a:p>
        </p:txBody>
      </p:sp>
      <p:graphicFrame>
        <p:nvGraphicFramePr>
          <p:cNvPr id="8" name="Table 7">
            <a:extLst>
              <a:ext uri="{FF2B5EF4-FFF2-40B4-BE49-F238E27FC236}">
                <a16:creationId xmlns:a16="http://schemas.microsoft.com/office/drawing/2014/main" id="{AA69C05C-A7B0-A026-8AF2-538C1B66BC72}"/>
              </a:ext>
            </a:extLst>
          </p:cNvPr>
          <p:cNvGraphicFramePr>
            <a:graphicFrameLocks noGrp="1"/>
          </p:cNvGraphicFramePr>
          <p:nvPr>
            <p:extLst>
              <p:ext uri="{D42A27DB-BD31-4B8C-83A1-F6EECF244321}">
                <p14:modId xmlns:p14="http://schemas.microsoft.com/office/powerpoint/2010/main" val="2273151086"/>
              </p:ext>
            </p:extLst>
          </p:nvPr>
        </p:nvGraphicFramePr>
        <p:xfrm>
          <a:off x="336884" y="1797326"/>
          <a:ext cx="8090569" cy="4754880"/>
        </p:xfrm>
        <a:graphic>
          <a:graphicData uri="http://schemas.openxmlformats.org/drawingml/2006/table">
            <a:tbl>
              <a:tblPr firstRow="1" bandRow="1">
                <a:tableStyleId>{5C22544A-7EE6-4342-B048-85BDC9FD1C3A}</a:tableStyleId>
              </a:tblPr>
              <a:tblGrid>
                <a:gridCol w="4026569">
                  <a:extLst>
                    <a:ext uri="{9D8B030D-6E8A-4147-A177-3AD203B41FA5}">
                      <a16:colId xmlns:a16="http://schemas.microsoft.com/office/drawing/2014/main" val="2359637735"/>
                    </a:ext>
                  </a:extLst>
                </a:gridCol>
                <a:gridCol w="4064000">
                  <a:extLst>
                    <a:ext uri="{9D8B030D-6E8A-4147-A177-3AD203B41FA5}">
                      <a16:colId xmlns:a16="http://schemas.microsoft.com/office/drawing/2014/main" val="109453964"/>
                    </a:ext>
                  </a:extLst>
                </a:gridCol>
              </a:tblGrid>
              <a:tr h="370840">
                <a:tc>
                  <a:txBody>
                    <a:bodyPr/>
                    <a:lstStyle/>
                    <a:p>
                      <a:r>
                        <a:rPr lang="en-US" dirty="0"/>
                        <a:t>Specialty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Website-Friendly Description</a:t>
                      </a:r>
                    </a:p>
                    <a:p>
                      <a:endParaRPr lang="en-US" dirty="0"/>
                    </a:p>
                  </a:txBody>
                  <a:tcPr/>
                </a:tc>
                <a:extLst>
                  <a:ext uri="{0D108BD9-81ED-4DB2-BD59-A6C34878D82A}">
                    <a16:rowId xmlns:a16="http://schemas.microsoft.com/office/drawing/2014/main" val="19756398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Cancer Care &amp; Oncology</a:t>
                      </a:r>
                    </a:p>
                    <a:p>
                      <a:endParaRPr lang="en-US" dirty="0"/>
                    </a:p>
                  </a:txBody>
                  <a:tcPr/>
                </a:tc>
                <a:tc>
                  <a:txBody>
                    <a:bodyPr/>
                    <a:lstStyle/>
                    <a:p>
                      <a:r>
                        <a:rPr lang="en-US" sz="1000" dirty="0"/>
                        <a:t>Access comprehensive cancer care, from advanced diagnostics and second opinions to chemotherapy, radiotherapy and complex cancer surgery</a:t>
                      </a:r>
                    </a:p>
                  </a:txBody>
                  <a:tcPr/>
                </a:tc>
                <a:extLst>
                  <a:ext uri="{0D108BD9-81ED-4DB2-BD59-A6C34878D82A}">
                    <a16:rowId xmlns:a16="http://schemas.microsoft.com/office/drawing/2014/main" val="770959400"/>
                  </a:ext>
                </a:extLst>
              </a:tr>
              <a:tr h="370840">
                <a:tc>
                  <a:txBody>
                    <a:bodyPr/>
                    <a:lstStyle/>
                    <a:p>
                      <a:pPr fontAlgn="ctr"/>
                      <a:r>
                        <a:rPr lang="en-US" dirty="0"/>
                        <a:t>.</a:t>
                      </a:r>
                    </a:p>
                    <a:p>
                      <a:pPr fontAlgn="ctr"/>
                      <a:r>
                        <a:rPr lang="en-US" dirty="0"/>
                        <a:t>❤️ Cardiology &amp; Cardiac Surgery</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Advanced care for heart conditions, including angioplasty, bypass surgery, valve procedures and complex cardiac interventions.</a:t>
                      </a:r>
                    </a:p>
                    <a:p>
                      <a:endParaRPr lang="en-US" sz="1000" dirty="0"/>
                    </a:p>
                  </a:txBody>
                  <a:tcPr/>
                </a:tc>
                <a:extLst>
                  <a:ext uri="{0D108BD9-81ED-4DB2-BD59-A6C34878D82A}">
                    <a16:rowId xmlns:a16="http://schemas.microsoft.com/office/drawing/2014/main" val="19182038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Neurology &amp; Neurosurgery</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err="1"/>
                        <a:t>Specialised</a:t>
                      </a:r>
                      <a:r>
                        <a:rPr lang="en-US" sz="1000" dirty="0"/>
                        <a:t> diagnosis and treatment for brain, spine and nervous-system conditions, including complex neurosurgery.</a:t>
                      </a:r>
                    </a:p>
                    <a:p>
                      <a:endParaRPr lang="en-US" sz="1000" dirty="0"/>
                    </a:p>
                  </a:txBody>
                  <a:tcPr/>
                </a:tc>
                <a:extLst>
                  <a:ext uri="{0D108BD9-81ED-4DB2-BD59-A6C34878D82A}">
                    <a16:rowId xmlns:a16="http://schemas.microsoft.com/office/drawing/2014/main" val="13801897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dirty="0" err="1"/>
                        <a:t>Orthopaedics</a:t>
                      </a:r>
                      <a:r>
                        <a:rPr lang="en-US" dirty="0"/>
                        <a:t> &amp; Joint Replacement</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Advanced treatment for bone and joint conditions, including hip and knee replacement, spine surgery, sports injuries and rehabilitation.</a:t>
                      </a:r>
                    </a:p>
                    <a:p>
                      <a:endParaRPr lang="en-US" sz="1000" dirty="0"/>
                    </a:p>
                  </a:txBody>
                  <a:tcPr/>
                </a:tc>
                <a:extLst>
                  <a:ext uri="{0D108BD9-81ED-4DB2-BD59-A6C34878D82A}">
                    <a16:rowId xmlns:a16="http://schemas.microsoft.com/office/drawing/2014/main" val="3900587572"/>
                  </a:ext>
                </a:extLst>
              </a:tr>
              <a:tr h="370840">
                <a:tc>
                  <a:txBody>
                    <a:bodyPr/>
                    <a:lstStyle/>
                    <a:p>
                      <a:pPr fontAlgn="ctr"/>
                      <a:r>
                        <a:rPr lang="en-US" dirty="0"/>
                        <a:t>🫀 Organ Transplantation</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Access </a:t>
                      </a:r>
                      <a:r>
                        <a:rPr lang="en-US" sz="1000" dirty="0" err="1"/>
                        <a:t>specialised</a:t>
                      </a:r>
                      <a:r>
                        <a:rPr lang="en-US" sz="1000" dirty="0"/>
                        <a:t> transplant </a:t>
                      </a:r>
                      <a:r>
                        <a:rPr lang="en-US" sz="1000" dirty="0" err="1"/>
                        <a:t>programmes</a:t>
                      </a:r>
                      <a:r>
                        <a:rPr lang="en-US" sz="1000" dirty="0"/>
                        <a:t>, including kidney, LVAD and liver transplantation, subject to medical and legal eligibility.</a:t>
                      </a:r>
                    </a:p>
                    <a:p>
                      <a:endParaRPr lang="en-US" sz="1000" dirty="0"/>
                    </a:p>
                  </a:txBody>
                  <a:tcPr/>
                </a:tc>
                <a:extLst>
                  <a:ext uri="{0D108BD9-81ED-4DB2-BD59-A6C34878D82A}">
                    <a16:rowId xmlns:a16="http://schemas.microsoft.com/office/drawing/2014/main" val="33848586"/>
                  </a:ext>
                </a:extLst>
              </a:tr>
              <a:tr h="370840">
                <a:tc>
                  <a:txBody>
                    <a:bodyPr/>
                    <a:lstStyle/>
                    <a:p>
                      <a:pPr fontAlgn="ctr"/>
                      <a:r>
                        <a:rPr lang="en-US" dirty="0"/>
                        <a:t>👶 </a:t>
                      </a:r>
                      <a:r>
                        <a:rPr lang="en-US" dirty="0" err="1"/>
                        <a:t>Paediatrics</a:t>
                      </a:r>
                      <a:r>
                        <a:rPr lang="en-US" dirty="0"/>
                        <a:t> &amp; </a:t>
                      </a:r>
                      <a:r>
                        <a:rPr lang="en-US" dirty="0" err="1"/>
                        <a:t>Paediatric</a:t>
                      </a:r>
                      <a:r>
                        <a:rPr lang="en-US" dirty="0"/>
                        <a:t> Surgery</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err="1"/>
                        <a:t>Specialised</a:t>
                      </a:r>
                      <a:r>
                        <a:rPr lang="en-US" sz="1000" dirty="0"/>
                        <a:t> medical and surgical care for children, with access to multidisciplinary </a:t>
                      </a:r>
                      <a:r>
                        <a:rPr lang="en-US" sz="1000" dirty="0" err="1"/>
                        <a:t>paediatric</a:t>
                      </a:r>
                      <a:r>
                        <a:rPr lang="en-US" sz="1000" dirty="0"/>
                        <a:t> expertise.</a:t>
                      </a:r>
                    </a:p>
                    <a:p>
                      <a:endParaRPr lang="en-US" sz="1000" dirty="0"/>
                    </a:p>
                  </a:txBody>
                  <a:tcPr/>
                </a:tc>
                <a:extLst>
                  <a:ext uri="{0D108BD9-81ED-4DB2-BD59-A6C34878D82A}">
                    <a16:rowId xmlns:a16="http://schemas.microsoft.com/office/drawing/2014/main" val="817563978"/>
                  </a:ext>
                </a:extLst>
              </a:tr>
            </a:tbl>
          </a:graphicData>
        </a:graphic>
      </p:graphicFrame>
    </p:spTree>
    <p:extLst>
      <p:ext uri="{BB962C8B-B14F-4D97-AF65-F5344CB8AC3E}">
        <p14:creationId xmlns:p14="http://schemas.microsoft.com/office/powerpoint/2010/main" val="3997351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D9B23-0D4A-5F22-5B76-7EB3CF2554AB}"/>
              </a:ext>
            </a:extLst>
          </p:cNvPr>
          <p:cNvSpPr>
            <a:spLocks noGrp="1"/>
          </p:cNvSpPr>
          <p:nvPr>
            <p:ph type="title"/>
          </p:nvPr>
        </p:nvSpPr>
        <p:spPr/>
        <p:txBody>
          <a:bodyPr/>
          <a:lstStyle/>
          <a:p>
            <a:r>
              <a:rPr lang="en-US" b="1" cap="all" dirty="0"/>
              <a:t>Specialties</a:t>
            </a:r>
            <a:endParaRPr lang="en-US" dirty="0"/>
          </a:p>
        </p:txBody>
      </p:sp>
      <p:graphicFrame>
        <p:nvGraphicFramePr>
          <p:cNvPr id="6" name="Table 5">
            <a:extLst>
              <a:ext uri="{FF2B5EF4-FFF2-40B4-BE49-F238E27FC236}">
                <a16:creationId xmlns:a16="http://schemas.microsoft.com/office/drawing/2014/main" id="{D5FE73C2-B766-6D98-6DE3-62E068AC5ECC}"/>
              </a:ext>
            </a:extLst>
          </p:cNvPr>
          <p:cNvGraphicFramePr>
            <a:graphicFrameLocks noGrp="1"/>
          </p:cNvGraphicFramePr>
          <p:nvPr>
            <p:extLst>
              <p:ext uri="{D42A27DB-BD31-4B8C-83A1-F6EECF244321}">
                <p14:modId xmlns:p14="http://schemas.microsoft.com/office/powerpoint/2010/main" val="1977381936"/>
              </p:ext>
            </p:extLst>
          </p:nvPr>
        </p:nvGraphicFramePr>
        <p:xfrm>
          <a:off x="278063" y="1525782"/>
          <a:ext cx="8128000" cy="42113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153577376"/>
                    </a:ext>
                  </a:extLst>
                </a:gridCol>
                <a:gridCol w="4064000">
                  <a:extLst>
                    <a:ext uri="{9D8B030D-6E8A-4147-A177-3AD203B41FA5}">
                      <a16:colId xmlns:a16="http://schemas.microsoft.com/office/drawing/2014/main" val="3687832274"/>
                    </a:ext>
                  </a:extLst>
                </a:gridCol>
              </a:tblGrid>
              <a:tr h="370840">
                <a:tc>
                  <a:txBody>
                    <a:bodyPr/>
                    <a:lstStyle/>
                    <a:p>
                      <a:r>
                        <a:rPr lang="en-US" dirty="0"/>
                        <a:t>Specialty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Website-Friendly Description</a:t>
                      </a:r>
                    </a:p>
                  </a:txBody>
                  <a:tcPr/>
                </a:tc>
                <a:extLst>
                  <a:ext uri="{0D108BD9-81ED-4DB2-BD59-A6C34878D82A}">
                    <a16:rowId xmlns:a16="http://schemas.microsoft.com/office/drawing/2014/main" val="29015593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 </a:t>
                      </a:r>
                      <a:r>
                        <a:rPr lang="en-US" sz="1400" dirty="0" err="1"/>
                        <a:t>Haematology</a:t>
                      </a:r>
                      <a:r>
                        <a:rPr lang="en-US" sz="1400" dirty="0"/>
                        <a:t> &amp; Bone Marrow Transplant</a:t>
                      </a:r>
                    </a:p>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Advanced care for blood disorders and blood cancers, including </a:t>
                      </a:r>
                      <a:r>
                        <a:rPr lang="en-US" sz="1000" dirty="0" err="1"/>
                        <a:t>leukaemia</a:t>
                      </a:r>
                      <a:r>
                        <a:rPr lang="en-US" sz="1000" dirty="0"/>
                        <a:t>, lymphoma and bone marrow/stem-cell transplantation.</a:t>
                      </a:r>
                    </a:p>
                    <a:p>
                      <a:endParaRPr lang="en-US" sz="1000" dirty="0"/>
                    </a:p>
                  </a:txBody>
                  <a:tcPr/>
                </a:tc>
                <a:extLst>
                  <a:ext uri="{0D108BD9-81ED-4DB2-BD59-A6C34878D82A}">
                    <a16:rowId xmlns:a16="http://schemas.microsoft.com/office/drawing/2014/main" val="5594149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 Plastic, Reconstructive &amp; Cosmetic Surgery</a:t>
                      </a:r>
                    </a:p>
                    <a:p>
                      <a:endParaRPr lang="en-US" sz="1400" dirty="0"/>
                    </a:p>
                  </a:txBody>
                  <a:tcPr/>
                </a:tc>
                <a:tc>
                  <a:txBody>
                    <a:bodyPr/>
                    <a:lstStyle/>
                    <a:p>
                      <a:r>
                        <a:rPr lang="en-US" sz="1000" dirty="0"/>
                        <a:t>Access experienced specialists for aesthetic and reconstructive procedures, from facial and body contouring to breast and post-cancer reconstruction.</a:t>
                      </a:r>
                    </a:p>
                  </a:txBody>
                  <a:tcPr/>
                </a:tc>
                <a:extLst>
                  <a:ext uri="{0D108BD9-81ED-4DB2-BD59-A6C34878D82A}">
                    <a16:rowId xmlns:a16="http://schemas.microsoft.com/office/drawing/2014/main" val="281570132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 Fertility &amp; Reproductive Medicine</a:t>
                      </a:r>
                    </a:p>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err="1"/>
                        <a:t>Personalised</a:t>
                      </a:r>
                      <a:r>
                        <a:rPr lang="en-US" sz="1000" dirty="0"/>
                        <a:t> fertility care, including fertility assessment, IVF, reproductive medicine and fertility-preservation options.</a:t>
                      </a:r>
                    </a:p>
                    <a:p>
                      <a:endParaRPr lang="en-US" sz="1000" dirty="0"/>
                    </a:p>
                  </a:txBody>
                  <a:tcPr/>
                </a:tc>
                <a:extLst>
                  <a:ext uri="{0D108BD9-81ED-4DB2-BD59-A6C34878D82A}">
                    <a16:rowId xmlns:a16="http://schemas.microsoft.com/office/drawing/2014/main" val="15109905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 Ophthalmology &amp; Eye Surgery</a:t>
                      </a:r>
                    </a:p>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Advanced diagnosis and treatment for complex eye conditions, including retinal, corneal and other </a:t>
                      </a:r>
                      <a:r>
                        <a:rPr lang="en-US" sz="1000" dirty="0" err="1"/>
                        <a:t>specialised</a:t>
                      </a:r>
                      <a:r>
                        <a:rPr lang="en-US" sz="1000" dirty="0"/>
                        <a:t> eye procedures.</a:t>
                      </a:r>
                    </a:p>
                    <a:p>
                      <a:endParaRPr lang="en-US" sz="1000" dirty="0"/>
                    </a:p>
                  </a:txBody>
                  <a:tcPr/>
                </a:tc>
                <a:extLst>
                  <a:ext uri="{0D108BD9-81ED-4DB2-BD59-A6C34878D82A}">
                    <a16:rowId xmlns:a16="http://schemas.microsoft.com/office/drawing/2014/main" val="39362308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 Nephrology &amp; Urology</a:t>
                      </a:r>
                    </a:p>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err="1"/>
                        <a:t>Specialised</a:t>
                      </a:r>
                      <a:r>
                        <a:rPr lang="en-US" sz="1000" dirty="0"/>
                        <a:t> care for kidney, urinary and male reproductive conditions, including advanced urological procedures.</a:t>
                      </a:r>
                    </a:p>
                    <a:p>
                      <a:endParaRPr lang="en-US" sz="1000" dirty="0"/>
                    </a:p>
                  </a:txBody>
                  <a:tcPr/>
                </a:tc>
                <a:extLst>
                  <a:ext uri="{0D108BD9-81ED-4DB2-BD59-A6C34878D82A}">
                    <a16:rowId xmlns:a16="http://schemas.microsoft.com/office/drawing/2014/main" val="24499189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 Dental &amp; Maxillofacial Care</a:t>
                      </a:r>
                    </a:p>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Advanced dental care, implants, full-mouth rehabilitation and oral and maxillofacial surgical procedures.</a:t>
                      </a:r>
                    </a:p>
                    <a:p>
                      <a:endParaRPr lang="en-US" sz="1000" dirty="0"/>
                    </a:p>
                  </a:txBody>
                  <a:tcPr/>
                </a:tc>
                <a:extLst>
                  <a:ext uri="{0D108BD9-81ED-4DB2-BD59-A6C34878D82A}">
                    <a16:rowId xmlns:a16="http://schemas.microsoft.com/office/drawing/2014/main" val="123044585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 Pulmonology &amp; Thoracic Surgery</a:t>
                      </a:r>
                    </a:p>
                    <a:p>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Comprehensive care for lung and chest conditions, from advanced diagnostics to </a:t>
                      </a:r>
                      <a:r>
                        <a:rPr lang="en-US" sz="1000" dirty="0" err="1"/>
                        <a:t>specialised</a:t>
                      </a:r>
                      <a:r>
                        <a:rPr lang="en-US" sz="1000" dirty="0"/>
                        <a:t> medical and surgical treatment.</a:t>
                      </a:r>
                    </a:p>
                    <a:p>
                      <a:endParaRPr lang="en-US" sz="1000" dirty="0"/>
                    </a:p>
                  </a:txBody>
                  <a:tcPr/>
                </a:tc>
                <a:extLst>
                  <a:ext uri="{0D108BD9-81ED-4DB2-BD59-A6C34878D82A}">
                    <a16:rowId xmlns:a16="http://schemas.microsoft.com/office/drawing/2014/main" val="3085572584"/>
                  </a:ext>
                </a:extLst>
              </a:tr>
            </a:tbl>
          </a:graphicData>
        </a:graphic>
      </p:graphicFrame>
    </p:spTree>
    <p:extLst>
      <p:ext uri="{BB962C8B-B14F-4D97-AF65-F5344CB8AC3E}">
        <p14:creationId xmlns:p14="http://schemas.microsoft.com/office/powerpoint/2010/main" val="600140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CA843-A501-C38D-BCC4-AD01F419D223}"/>
              </a:ext>
            </a:extLst>
          </p:cNvPr>
          <p:cNvSpPr>
            <a:spLocks noGrp="1"/>
          </p:cNvSpPr>
          <p:nvPr>
            <p:ph type="title"/>
          </p:nvPr>
        </p:nvSpPr>
        <p:spPr/>
        <p:txBody>
          <a:bodyPr/>
          <a:lstStyle/>
          <a:p>
            <a:r>
              <a:rPr lang="en-US" b="1" cap="all" dirty="0"/>
              <a:t>Specialties</a:t>
            </a:r>
            <a:endParaRPr lang="en-US" dirty="0"/>
          </a:p>
        </p:txBody>
      </p:sp>
      <p:graphicFrame>
        <p:nvGraphicFramePr>
          <p:cNvPr id="4" name="Table 3">
            <a:extLst>
              <a:ext uri="{FF2B5EF4-FFF2-40B4-BE49-F238E27FC236}">
                <a16:creationId xmlns:a16="http://schemas.microsoft.com/office/drawing/2014/main" id="{BF046270-63CE-E8AF-69A6-964F9D4CAC0D}"/>
              </a:ext>
            </a:extLst>
          </p:cNvPr>
          <p:cNvGraphicFramePr>
            <a:graphicFrameLocks noGrp="1"/>
          </p:cNvGraphicFramePr>
          <p:nvPr>
            <p:extLst>
              <p:ext uri="{D42A27DB-BD31-4B8C-83A1-F6EECF244321}">
                <p14:modId xmlns:p14="http://schemas.microsoft.com/office/powerpoint/2010/main" val="2976868717"/>
              </p:ext>
            </p:extLst>
          </p:nvPr>
        </p:nvGraphicFramePr>
        <p:xfrm>
          <a:off x="431800" y="2306888"/>
          <a:ext cx="8128000" cy="3937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872582848"/>
                    </a:ext>
                  </a:extLst>
                </a:gridCol>
                <a:gridCol w="4064000">
                  <a:extLst>
                    <a:ext uri="{9D8B030D-6E8A-4147-A177-3AD203B41FA5}">
                      <a16:colId xmlns:a16="http://schemas.microsoft.com/office/drawing/2014/main" val="150851240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Specialty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Website-Friendly Description</a:t>
                      </a:r>
                    </a:p>
                    <a:p>
                      <a:endParaRPr lang="en-US" dirty="0"/>
                    </a:p>
                  </a:txBody>
                  <a:tcPr/>
                </a:tc>
                <a:extLst>
                  <a:ext uri="{0D108BD9-81ED-4DB2-BD59-A6C34878D82A}">
                    <a16:rowId xmlns:a16="http://schemas.microsoft.com/office/drawing/2014/main" val="2362992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Women’s Health &amp; </a:t>
                      </a:r>
                      <a:r>
                        <a:rPr lang="en-US" dirty="0" err="1"/>
                        <a:t>Gynaecology</a:t>
                      </a:r>
                      <a:endParaRPr lang="en-US" dirty="0"/>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Specialised</a:t>
                      </a:r>
                      <a:r>
                        <a:rPr lang="en-US" dirty="0"/>
                        <a:t> care for women, including complex </a:t>
                      </a:r>
                      <a:r>
                        <a:rPr lang="en-US" dirty="0" err="1"/>
                        <a:t>gynaecological</a:t>
                      </a:r>
                      <a:r>
                        <a:rPr lang="en-US" dirty="0"/>
                        <a:t> conditions, minimally invasive surgery and reproductive health.</a:t>
                      </a:r>
                    </a:p>
                    <a:p>
                      <a:endParaRPr lang="en-US" dirty="0"/>
                    </a:p>
                  </a:txBody>
                  <a:tcPr/>
                </a:tc>
                <a:extLst>
                  <a:ext uri="{0D108BD9-81ED-4DB2-BD59-A6C34878D82A}">
                    <a16:rowId xmlns:a16="http://schemas.microsoft.com/office/drawing/2014/main" val="24524386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Gastroenterology &amp; GI Surgery</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Advanced diagnosis and treatment of digestive, liver and gastrointestinal conditions, including complex and minimally invasive surgery.</a:t>
                      </a:r>
                    </a:p>
                    <a:p>
                      <a:endParaRPr lang="en-US" dirty="0"/>
                    </a:p>
                  </a:txBody>
                  <a:tcPr/>
                </a:tc>
                <a:extLst>
                  <a:ext uri="{0D108BD9-81ED-4DB2-BD59-A6C34878D82A}">
                    <a16:rowId xmlns:a16="http://schemas.microsoft.com/office/drawing/2014/main" val="3425017905"/>
                  </a:ext>
                </a:extLst>
              </a:tr>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val="84495541"/>
                  </a:ext>
                </a:extLst>
              </a:tr>
            </a:tbl>
          </a:graphicData>
        </a:graphic>
      </p:graphicFrame>
    </p:spTree>
    <p:extLst>
      <p:ext uri="{BB962C8B-B14F-4D97-AF65-F5344CB8AC3E}">
        <p14:creationId xmlns:p14="http://schemas.microsoft.com/office/powerpoint/2010/main" val="3247403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28B9D-5256-2CFA-7744-30FF5CD93F97}"/>
              </a:ext>
            </a:extLst>
          </p:cNvPr>
          <p:cNvSpPr>
            <a:spLocks noGrp="1"/>
          </p:cNvSpPr>
          <p:nvPr>
            <p:ph type="title"/>
          </p:nvPr>
        </p:nvSpPr>
        <p:spPr/>
        <p:txBody>
          <a:bodyPr/>
          <a:lstStyle/>
          <a:p>
            <a:r>
              <a:rPr lang="en-US" dirty="0"/>
              <a:t>Surgeons</a:t>
            </a:r>
          </a:p>
        </p:txBody>
      </p:sp>
      <p:sp>
        <p:nvSpPr>
          <p:cNvPr id="3" name="Content Placeholder 2">
            <a:extLst>
              <a:ext uri="{FF2B5EF4-FFF2-40B4-BE49-F238E27FC236}">
                <a16:creationId xmlns:a16="http://schemas.microsoft.com/office/drawing/2014/main" id="{705DEFA3-6E0E-18BA-D3FB-7CC749280E68}"/>
              </a:ext>
            </a:extLst>
          </p:cNvPr>
          <p:cNvSpPr>
            <a:spLocks noGrp="1"/>
          </p:cNvSpPr>
          <p:nvPr>
            <p:ph idx="1"/>
          </p:nvPr>
        </p:nvSpPr>
        <p:spPr/>
        <p:txBody>
          <a:bodyPr/>
          <a:lstStyle/>
          <a:p>
            <a:r>
              <a:rPr lang="en-US" dirty="0"/>
              <a:t>Remove this part</a:t>
            </a:r>
          </a:p>
        </p:txBody>
      </p:sp>
    </p:spTree>
    <p:extLst>
      <p:ext uri="{BB962C8B-B14F-4D97-AF65-F5344CB8AC3E}">
        <p14:creationId xmlns:p14="http://schemas.microsoft.com/office/powerpoint/2010/main" val="3286419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790B0-A115-61C5-F6B5-C4341E4ACDB7}"/>
              </a:ext>
            </a:extLst>
          </p:cNvPr>
          <p:cNvSpPr>
            <a:spLocks noGrp="1"/>
          </p:cNvSpPr>
          <p:nvPr>
            <p:ph type="title"/>
          </p:nvPr>
        </p:nvSpPr>
        <p:spPr/>
        <p:txBody>
          <a:bodyPr/>
          <a:lstStyle/>
          <a:p>
            <a:r>
              <a:rPr lang="en-US" dirty="0"/>
              <a:t>Hospitals</a:t>
            </a:r>
          </a:p>
        </p:txBody>
      </p:sp>
      <p:sp>
        <p:nvSpPr>
          <p:cNvPr id="3" name="Content Placeholder 2">
            <a:extLst>
              <a:ext uri="{FF2B5EF4-FFF2-40B4-BE49-F238E27FC236}">
                <a16:creationId xmlns:a16="http://schemas.microsoft.com/office/drawing/2014/main" id="{FE11EA89-F43C-4689-3690-6E9C210ADC5F}"/>
              </a:ext>
            </a:extLst>
          </p:cNvPr>
          <p:cNvSpPr>
            <a:spLocks noGrp="1"/>
          </p:cNvSpPr>
          <p:nvPr>
            <p:ph idx="1"/>
          </p:nvPr>
        </p:nvSpPr>
        <p:spPr/>
        <p:txBody>
          <a:bodyPr>
            <a:normAutofit fontScale="92500"/>
          </a:bodyPr>
          <a:lstStyle/>
          <a:p>
            <a:r>
              <a:rPr lang="en-US" dirty="0"/>
              <a:t>INTRO:</a:t>
            </a:r>
            <a:br>
              <a:rPr lang="en-US" dirty="0"/>
            </a:br>
            <a:r>
              <a:rPr lang="en-US" sz="2200" dirty="0"/>
              <a:t>Medical 360 facilitates access to established hospitals and specialist medical teams across India. Through our network, patients can obtain medical opinions, treatment plans and access to advanced medical and surgical care according to their individual diagnosis and needs.</a:t>
            </a:r>
            <a:br>
              <a:rPr lang="en-US" sz="2200" dirty="0"/>
            </a:br>
            <a:br>
              <a:rPr lang="en-US" sz="2200" dirty="0"/>
            </a:br>
            <a:r>
              <a:rPr lang="en-US" sz="2200" dirty="0"/>
              <a:t>Our support goes beyond the hospital referral. From </a:t>
            </a:r>
            <a:r>
              <a:rPr lang="en-US" sz="2200" b="1" dirty="0"/>
              <a:t>medical-record review, specialist appointments and treatment planning to visa assistance, travel, accommodation, admission and post-treatment follow-up</a:t>
            </a:r>
            <a:r>
              <a:rPr lang="en-US" sz="2200" dirty="0"/>
              <a:t>, our patient-navigation team accompanies patients and their families throughout their healthcare journey.</a:t>
            </a:r>
            <a:br>
              <a:rPr lang="en-US" sz="2200" dirty="0"/>
            </a:br>
            <a:br>
              <a:rPr lang="en-US" sz="2200" dirty="0"/>
            </a:br>
            <a:r>
              <a:rPr lang="en-US" sz="2200" dirty="0"/>
              <a:t>Hospital selection is based on the patient's individual medical requirements. Accreditation, clinical expertise, technology, multidisciplinary capabilities, international-patient services and treatment options are among the factors considered</a:t>
            </a:r>
            <a:r>
              <a:rPr lang="en-US" dirty="0"/>
              <a:t>.</a:t>
            </a:r>
          </a:p>
          <a:p>
            <a:endParaRPr lang="en-US" dirty="0"/>
          </a:p>
        </p:txBody>
      </p:sp>
    </p:spTree>
    <p:extLst>
      <p:ext uri="{BB962C8B-B14F-4D97-AF65-F5344CB8AC3E}">
        <p14:creationId xmlns:p14="http://schemas.microsoft.com/office/powerpoint/2010/main" val="4225567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76ABDA8-6321-2DBA-1330-D82C40E8CE62}"/>
              </a:ext>
            </a:extLst>
          </p:cNvPr>
          <p:cNvSpPr txBox="1"/>
          <p:nvPr/>
        </p:nvSpPr>
        <p:spPr>
          <a:xfrm>
            <a:off x="886248" y="553449"/>
            <a:ext cx="10175630" cy="767904"/>
          </a:xfrm>
          <a:prstGeom prst="rect">
            <a:avLst/>
          </a:prstGeom>
        </p:spPr>
        <p:txBody>
          <a:bodyPr vert="horz" lIns="91440" tIns="45720" rIns="91440" bIns="45720" rtlCol="0" anchor="ctr">
            <a:normAutofit/>
          </a:bodyPr>
          <a:lstStyle/>
          <a:p>
            <a:pPr algn="ctr">
              <a:lnSpc>
                <a:spcPct val="90000"/>
              </a:lnSpc>
              <a:spcAft>
                <a:spcPts val="600"/>
              </a:spcAft>
            </a:pPr>
            <a:r>
              <a:rPr lang="en-US" sz="2000" b="1" dirty="0"/>
              <a:t>Our Hospital Network at a Glance</a:t>
            </a:r>
          </a:p>
        </p:txBody>
      </p:sp>
      <p:graphicFrame>
        <p:nvGraphicFramePr>
          <p:cNvPr id="4" name="Content Placeholder 3">
            <a:extLst>
              <a:ext uri="{FF2B5EF4-FFF2-40B4-BE49-F238E27FC236}">
                <a16:creationId xmlns:a16="http://schemas.microsoft.com/office/drawing/2014/main" id="{AEAAD60C-26F2-A5D3-B6D5-74C5090F76E1}"/>
              </a:ext>
            </a:extLst>
          </p:cNvPr>
          <p:cNvGraphicFramePr>
            <a:graphicFrameLocks noGrp="1"/>
          </p:cNvGraphicFramePr>
          <p:nvPr>
            <p:ph idx="1"/>
            <p:extLst>
              <p:ext uri="{D42A27DB-BD31-4B8C-83A1-F6EECF244321}">
                <p14:modId xmlns:p14="http://schemas.microsoft.com/office/powerpoint/2010/main" val="754244807"/>
              </p:ext>
            </p:extLst>
          </p:nvPr>
        </p:nvGraphicFramePr>
        <p:xfrm>
          <a:off x="667658" y="1161143"/>
          <a:ext cx="11117942" cy="5143409"/>
        </p:xfrm>
        <a:graphic>
          <a:graphicData uri="http://schemas.openxmlformats.org/drawingml/2006/table">
            <a:tbl>
              <a:tblPr>
                <a:solidFill>
                  <a:schemeClr val="accent1">
                    <a:lumMod val="20000"/>
                    <a:lumOff val="80000"/>
                  </a:schemeClr>
                </a:solidFill>
                <a:tableStyleId>{5C22544A-7EE6-4342-B048-85BDC9FD1C3A}</a:tableStyleId>
              </a:tblPr>
              <a:tblGrid>
                <a:gridCol w="3656444">
                  <a:extLst>
                    <a:ext uri="{9D8B030D-6E8A-4147-A177-3AD203B41FA5}">
                      <a16:colId xmlns:a16="http://schemas.microsoft.com/office/drawing/2014/main" val="2599194004"/>
                    </a:ext>
                  </a:extLst>
                </a:gridCol>
                <a:gridCol w="2579698">
                  <a:extLst>
                    <a:ext uri="{9D8B030D-6E8A-4147-A177-3AD203B41FA5}">
                      <a16:colId xmlns:a16="http://schemas.microsoft.com/office/drawing/2014/main" val="1099456054"/>
                    </a:ext>
                  </a:extLst>
                </a:gridCol>
                <a:gridCol w="4881800">
                  <a:extLst>
                    <a:ext uri="{9D8B030D-6E8A-4147-A177-3AD203B41FA5}">
                      <a16:colId xmlns:a16="http://schemas.microsoft.com/office/drawing/2014/main" val="2947402798"/>
                    </a:ext>
                  </a:extLst>
                </a:gridCol>
              </a:tblGrid>
              <a:tr h="309289">
                <a:tc>
                  <a:txBody>
                    <a:bodyPr/>
                    <a:lstStyle/>
                    <a:p>
                      <a:pPr>
                        <a:buNone/>
                      </a:pPr>
                      <a:r>
                        <a:rPr lang="en-US" sz="1000" cap="none" spc="0">
                          <a:solidFill>
                            <a:schemeClr val="tx1"/>
                          </a:solidFill>
                        </a:rPr>
                        <a:t>Hospital</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Location</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Particularly Known For</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805556293"/>
                  </a:ext>
                </a:extLst>
              </a:tr>
              <a:tr h="309289">
                <a:tc>
                  <a:txBody>
                    <a:bodyPr/>
                    <a:lstStyle/>
                    <a:p>
                      <a:pPr>
                        <a:buNone/>
                      </a:pPr>
                      <a:r>
                        <a:rPr lang="en-US" sz="1000" cap="none" spc="0">
                          <a:solidFill>
                            <a:schemeClr val="tx1"/>
                          </a:solidFill>
                          <a:hlinkClick r:id="rId2">
                            <a:extLst>
                              <a:ext uri="{A12FA001-AC4F-418D-AE19-62706E023703}">
                                <ahyp:hlinkClr xmlns:ahyp="http://schemas.microsoft.com/office/drawing/2018/hyperlinkcolor" val="tx"/>
                              </a:ext>
                            </a:extLst>
                          </a:hlinkClick>
                        </a:rPr>
                        <a:t>Apollo Hospitals</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Chennai &amp; Navi Mumbai</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Oncology, cardiac sciences, transplants, neurosciences, paediatrics</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41241972"/>
                  </a:ext>
                </a:extLst>
              </a:tr>
              <a:tr h="309289">
                <a:tc>
                  <a:txBody>
                    <a:bodyPr/>
                    <a:lstStyle/>
                    <a:p>
                      <a:pPr>
                        <a:buNone/>
                      </a:pPr>
                      <a:r>
                        <a:rPr lang="en-US" sz="1000" cap="none" spc="0">
                          <a:solidFill>
                            <a:schemeClr val="tx1"/>
                          </a:solidFill>
                          <a:hlinkClick r:id="rId3">
                            <a:extLst>
                              <a:ext uri="{A12FA001-AC4F-418D-AE19-62706E023703}">
                                <ahyp:hlinkClr xmlns:ahyp="http://schemas.microsoft.com/office/drawing/2018/hyperlinkcolor" val="tx"/>
                              </a:ext>
                            </a:extLst>
                          </a:hlinkClick>
                        </a:rPr>
                        <a:t>Manipal Hospitals</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dirty="0">
                          <a:solidFill>
                            <a:schemeClr val="tx1"/>
                          </a:solidFill>
                        </a:rPr>
                        <a:t>Bengaluru</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Multispecialty &amp; quaternary care, oncology, cardiac, neurosciences, transplants</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16481616"/>
                  </a:ext>
                </a:extLst>
              </a:tr>
              <a:tr h="309289">
                <a:tc>
                  <a:txBody>
                    <a:bodyPr/>
                    <a:lstStyle/>
                    <a:p>
                      <a:pPr>
                        <a:buNone/>
                      </a:pPr>
                      <a:r>
                        <a:rPr lang="en-US" sz="1000" cap="none" spc="0">
                          <a:solidFill>
                            <a:schemeClr val="tx1"/>
                          </a:solidFill>
                          <a:hlinkClick r:id="rId4">
                            <a:extLst>
                              <a:ext uri="{A12FA001-AC4F-418D-AE19-62706E023703}">
                                <ahyp:hlinkClr xmlns:ahyp="http://schemas.microsoft.com/office/drawing/2018/hyperlinkcolor" val="tx"/>
                              </a:ext>
                            </a:extLst>
                          </a:hlinkClick>
                        </a:rPr>
                        <a:t>KIMS Hospitals</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Hyderabad/Secunderabad</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Cardiac sciences, neurosciences, transplants, oncology, complex surgery</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49927174"/>
                  </a:ext>
                </a:extLst>
              </a:tr>
              <a:tr h="309289">
                <a:tc>
                  <a:txBody>
                    <a:bodyPr/>
                    <a:lstStyle/>
                    <a:p>
                      <a:pPr>
                        <a:buNone/>
                      </a:pPr>
                      <a:r>
                        <a:rPr lang="en-US" sz="1000" cap="none" spc="0">
                          <a:solidFill>
                            <a:schemeClr val="tx1"/>
                          </a:solidFill>
                          <a:hlinkClick r:id="rId5">
                            <a:extLst>
                              <a:ext uri="{A12FA001-AC4F-418D-AE19-62706E023703}">
                                <ahyp:hlinkClr xmlns:ahyp="http://schemas.microsoft.com/office/drawing/2018/hyperlinkcolor" val="tx"/>
                              </a:ext>
                            </a:extLst>
                          </a:hlinkClick>
                        </a:rPr>
                        <a:t>Yashoda Hospitals</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Hyderabad</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Oncology, neurosciences, cardiac sciences, transplants, multispecialty care</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133283886"/>
                  </a:ext>
                </a:extLst>
              </a:tr>
              <a:tr h="309289">
                <a:tc>
                  <a:txBody>
                    <a:bodyPr/>
                    <a:lstStyle/>
                    <a:p>
                      <a:pPr>
                        <a:buNone/>
                      </a:pPr>
                      <a:r>
                        <a:rPr lang="en-US" sz="1000" cap="none" spc="0">
                          <a:solidFill>
                            <a:schemeClr val="tx1"/>
                          </a:solidFill>
                          <a:hlinkClick r:id="rId6">
                            <a:extLst>
                              <a:ext uri="{A12FA001-AC4F-418D-AE19-62706E023703}">
                                <ahyp:hlinkClr xmlns:ahyp="http://schemas.microsoft.com/office/drawing/2018/hyperlinkcolor" val="tx"/>
                              </a:ext>
                            </a:extLst>
                          </a:hlinkClick>
                        </a:rPr>
                        <a:t>Lilavati Hospital &amp; Research Centre</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Mumbai</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Tertiary multispecialty care, cardiac, neurosciences, oncology</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2207988"/>
                  </a:ext>
                </a:extLst>
              </a:tr>
              <a:tr h="504074">
                <a:tc>
                  <a:txBody>
                    <a:bodyPr/>
                    <a:lstStyle/>
                    <a:p>
                      <a:pPr>
                        <a:buNone/>
                      </a:pPr>
                      <a:r>
                        <a:rPr lang="en-US" sz="1000" cap="none" spc="0">
                          <a:solidFill>
                            <a:schemeClr val="tx1"/>
                          </a:solidFill>
                          <a:hlinkClick r:id="rId7">
                            <a:extLst>
                              <a:ext uri="{A12FA001-AC4F-418D-AE19-62706E023703}">
                                <ahyp:hlinkClr xmlns:ahyp="http://schemas.microsoft.com/office/drawing/2018/hyperlinkcolor" val="tx"/>
                              </a:ext>
                            </a:extLst>
                          </a:hlinkClick>
                        </a:rPr>
                        <a:t>Medanta – The Medicity</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Gurugram, Delhi NCR</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Cardiac sciences, oncology, transplants, neurosciences, complex multidisciplinary care</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880570139"/>
                  </a:ext>
                </a:extLst>
              </a:tr>
              <a:tr h="309289">
                <a:tc>
                  <a:txBody>
                    <a:bodyPr/>
                    <a:lstStyle/>
                    <a:p>
                      <a:pPr>
                        <a:buNone/>
                      </a:pPr>
                      <a:r>
                        <a:rPr lang="en-US" sz="1000" cap="none" spc="0">
                          <a:solidFill>
                            <a:schemeClr val="tx1"/>
                          </a:solidFill>
                          <a:hlinkClick r:id="rId8">
                            <a:extLst>
                              <a:ext uri="{A12FA001-AC4F-418D-AE19-62706E023703}">
                                <ahyp:hlinkClr xmlns:ahyp="http://schemas.microsoft.com/office/drawing/2018/hyperlinkcolor" val="tx"/>
                              </a:ext>
                            </a:extLst>
                          </a:hlinkClick>
                        </a:rPr>
                        <a:t>Fortis Escorts Heart Institute</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New Delhi</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Cardiology, cardiac surgery, heart transplant, LVAD, liver &amp; kidney care</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95247939"/>
                  </a:ext>
                </a:extLst>
              </a:tr>
              <a:tr h="309289">
                <a:tc>
                  <a:txBody>
                    <a:bodyPr/>
                    <a:lstStyle/>
                    <a:p>
                      <a:pPr>
                        <a:buNone/>
                      </a:pPr>
                      <a:r>
                        <a:rPr lang="en-US" sz="1000" cap="none" spc="0">
                          <a:solidFill>
                            <a:schemeClr val="tx1"/>
                          </a:solidFill>
                          <a:hlinkClick r:id="rId9">
                            <a:extLst>
                              <a:ext uri="{A12FA001-AC4F-418D-AE19-62706E023703}">
                                <ahyp:hlinkClr xmlns:ahyp="http://schemas.microsoft.com/office/drawing/2018/hyperlinkcolor" val="tx"/>
                              </a:ext>
                            </a:extLst>
                          </a:hlinkClick>
                        </a:rPr>
                        <a:t>Paras Health</a:t>
                      </a:r>
                      <a:r>
                        <a:rPr lang="en-US" sz="1000" cap="none" spc="0">
                          <a:solidFill>
                            <a:schemeClr val="tx1"/>
                          </a:solidFill>
                        </a:rPr>
                        <a:t>*</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Gurugram, Delhi NCR</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Neurosciences, oncology, cardiac sciences, gastroenterology, orthopaedics</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378212720"/>
                  </a:ext>
                </a:extLst>
              </a:tr>
              <a:tr h="309289">
                <a:tc>
                  <a:txBody>
                    <a:bodyPr/>
                    <a:lstStyle/>
                    <a:p>
                      <a:pPr>
                        <a:buNone/>
                      </a:pPr>
                      <a:r>
                        <a:rPr lang="en-US" sz="1000" cap="none" spc="0">
                          <a:solidFill>
                            <a:schemeClr val="tx1"/>
                          </a:solidFill>
                          <a:hlinkClick r:id="rId10">
                            <a:extLst>
                              <a:ext uri="{A12FA001-AC4F-418D-AE19-62706E023703}">
                                <ahyp:hlinkClr xmlns:ahyp="http://schemas.microsoft.com/office/drawing/2018/hyperlinkcolor" val="tx"/>
                              </a:ext>
                            </a:extLst>
                          </a:hlinkClick>
                        </a:rPr>
                        <a:t>Max Super Speciality Hospital, Saket</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New Delhi</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Oncology, transplants, neurosciences, cardiac sciences, complex surgery</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83660223"/>
                  </a:ext>
                </a:extLst>
              </a:tr>
              <a:tr h="309289">
                <a:tc>
                  <a:txBody>
                    <a:bodyPr/>
                    <a:lstStyle/>
                    <a:p>
                      <a:pPr>
                        <a:buNone/>
                      </a:pPr>
                      <a:r>
                        <a:rPr lang="en-US" sz="1000" cap="none" spc="0">
                          <a:solidFill>
                            <a:schemeClr val="tx1"/>
                          </a:solidFill>
                          <a:hlinkClick r:id="rId11">
                            <a:extLst>
                              <a:ext uri="{A12FA001-AC4F-418D-AE19-62706E023703}">
                                <ahyp:hlinkClr xmlns:ahyp="http://schemas.microsoft.com/office/drawing/2018/hyperlinkcolor" val="tx"/>
                              </a:ext>
                            </a:extLst>
                          </a:hlinkClick>
                        </a:rPr>
                        <a:t>Sir H. N. Reliance Foundation Hospital</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Mumbai</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Oncology, cardiac sciences, neurosciences, liver transplant, women &amp; children</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02000747"/>
                  </a:ext>
                </a:extLst>
              </a:tr>
              <a:tr h="309289">
                <a:tc>
                  <a:txBody>
                    <a:bodyPr/>
                    <a:lstStyle/>
                    <a:p>
                      <a:pPr>
                        <a:buNone/>
                      </a:pPr>
                      <a:r>
                        <a:rPr lang="en-US" sz="1000" cap="none" spc="0">
                          <a:solidFill>
                            <a:schemeClr val="tx1"/>
                          </a:solidFill>
                          <a:hlinkClick r:id="rId12">
                            <a:extLst>
                              <a:ext uri="{A12FA001-AC4F-418D-AE19-62706E023703}">
                                <ahyp:hlinkClr xmlns:ahyp="http://schemas.microsoft.com/office/drawing/2018/hyperlinkcolor" val="tx"/>
                              </a:ext>
                            </a:extLst>
                          </a:hlinkClick>
                        </a:rPr>
                        <a:t>Kokilaben Dhirubhai Ambani Hospital</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Mumbai</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Oncology, neurosciences, cardiac sciences, robotic surgery, paediatrics</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74232138"/>
                  </a:ext>
                </a:extLst>
              </a:tr>
              <a:tr h="309289">
                <a:tc>
                  <a:txBody>
                    <a:bodyPr/>
                    <a:lstStyle/>
                    <a:p>
                      <a:pPr>
                        <a:buNone/>
                      </a:pPr>
                      <a:r>
                        <a:rPr lang="en-US" sz="1000" cap="none" spc="0">
                          <a:solidFill>
                            <a:schemeClr val="tx1"/>
                          </a:solidFill>
                          <a:hlinkClick r:id="rId13">
                            <a:extLst>
                              <a:ext uri="{A12FA001-AC4F-418D-AE19-62706E023703}">
                                <ahyp:hlinkClr xmlns:ahyp="http://schemas.microsoft.com/office/drawing/2018/hyperlinkcolor" val="tx"/>
                              </a:ext>
                            </a:extLst>
                          </a:hlinkClick>
                        </a:rPr>
                        <a:t>Park Hospital</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New Delhi</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Multispecialty care, oncology, cardiology, neurosciences, orthopaedics</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238168077"/>
                  </a:ext>
                </a:extLst>
              </a:tr>
              <a:tr h="309289">
                <a:tc>
                  <a:txBody>
                    <a:bodyPr/>
                    <a:lstStyle/>
                    <a:p>
                      <a:pPr>
                        <a:buNone/>
                      </a:pPr>
                      <a:r>
                        <a:rPr lang="en-US" sz="1000" cap="none" spc="0">
                          <a:solidFill>
                            <a:schemeClr val="tx1"/>
                          </a:solidFill>
                          <a:hlinkClick r:id="rId14">
                            <a:extLst>
                              <a:ext uri="{A12FA001-AC4F-418D-AE19-62706E023703}">
                                <ahyp:hlinkClr xmlns:ahyp="http://schemas.microsoft.com/office/drawing/2018/hyperlinkcolor" val="tx"/>
                              </a:ext>
                            </a:extLst>
                          </a:hlinkClick>
                        </a:rPr>
                        <a:t>Sankara Nethralaya</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Chennai</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Advanced ophthalmology and complex eye care</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728284386"/>
                  </a:ext>
                </a:extLst>
              </a:tr>
              <a:tr h="309289">
                <a:tc>
                  <a:txBody>
                    <a:bodyPr/>
                    <a:lstStyle/>
                    <a:p>
                      <a:pPr>
                        <a:buNone/>
                      </a:pPr>
                      <a:r>
                        <a:rPr lang="en-US" sz="1000" cap="none" spc="0">
                          <a:solidFill>
                            <a:schemeClr val="tx1"/>
                          </a:solidFill>
                          <a:hlinkClick r:id="rId15">
                            <a:extLst>
                              <a:ext uri="{A12FA001-AC4F-418D-AE19-62706E023703}">
                                <ahyp:hlinkClr xmlns:ahyp="http://schemas.microsoft.com/office/drawing/2018/hyperlinkcolor" val="tx"/>
                              </a:ext>
                            </a:extLst>
                          </a:hlinkClick>
                        </a:rPr>
                        <a:t>MIOT International</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Chennai</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Orthopaedics, trauma, cardiac sciences and multispecialty care</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808403658"/>
                  </a:ext>
                </a:extLst>
              </a:tr>
              <a:tr h="309289">
                <a:tc>
                  <a:txBody>
                    <a:bodyPr/>
                    <a:lstStyle/>
                    <a:p>
                      <a:pPr>
                        <a:buNone/>
                      </a:pPr>
                      <a:r>
                        <a:rPr lang="en-US" sz="1000" cap="none" spc="0">
                          <a:solidFill>
                            <a:schemeClr val="tx1"/>
                          </a:solidFill>
                          <a:hlinkClick r:id="rId16">
                            <a:extLst>
                              <a:ext uri="{A12FA001-AC4F-418D-AE19-62706E023703}">
                                <ahyp:hlinkClr xmlns:ahyp="http://schemas.microsoft.com/office/drawing/2018/hyperlinkcolor" val="tx"/>
                              </a:ext>
                            </a:extLst>
                          </a:hlinkClick>
                        </a:rPr>
                        <a:t>Aster Prime Hospital</a:t>
                      </a:r>
                      <a:endParaRPr lang="en-US" sz="1000" cap="none" spc="0">
                        <a:solidFill>
                          <a:schemeClr val="tx1"/>
                        </a:solidFill>
                      </a:endParaRP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a:solidFill>
                            <a:schemeClr val="tx1"/>
                          </a:solidFill>
                        </a:rPr>
                        <a:t>Hyderabad</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dirty="0">
                          <a:solidFill>
                            <a:schemeClr val="tx1"/>
                          </a:solidFill>
                        </a:rPr>
                        <a:t>Cardiac, </a:t>
                      </a:r>
                      <a:r>
                        <a:rPr lang="en-US" sz="1000" cap="none" spc="0" dirty="0" err="1">
                          <a:solidFill>
                            <a:schemeClr val="tx1"/>
                          </a:solidFill>
                        </a:rPr>
                        <a:t>orthopaedics</a:t>
                      </a:r>
                      <a:r>
                        <a:rPr lang="en-US" sz="1000" cap="none" spc="0" dirty="0">
                          <a:solidFill>
                            <a:schemeClr val="tx1"/>
                          </a:solidFill>
                        </a:rPr>
                        <a:t>, oncology, gastroenterology, neurosciences</a:t>
                      </a:r>
                    </a:p>
                  </a:txBody>
                  <a:tcPr marL="18558" marR="18558" marT="9279" marB="5537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3086548"/>
                  </a:ext>
                </a:extLst>
              </a:tr>
            </a:tbl>
          </a:graphicData>
        </a:graphic>
      </p:graphicFrame>
    </p:spTree>
    <p:extLst>
      <p:ext uri="{BB962C8B-B14F-4D97-AF65-F5344CB8AC3E}">
        <p14:creationId xmlns:p14="http://schemas.microsoft.com/office/powerpoint/2010/main" val="2413124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4E5CFA-9BAC-D5D9-386D-BEBA7C76D570}"/>
              </a:ext>
            </a:extLst>
          </p:cNvPr>
          <p:cNvSpPr>
            <a:spLocks noGrp="1"/>
          </p:cNvSpPr>
          <p:nvPr>
            <p:ph idx="1"/>
          </p:nvPr>
        </p:nvSpPr>
        <p:spPr>
          <a:xfrm>
            <a:off x="838200" y="490120"/>
            <a:ext cx="10515600" cy="4351338"/>
          </a:xfrm>
        </p:spPr>
        <p:txBody>
          <a:bodyPr>
            <a:normAutofit fontScale="25000" lnSpcReduction="20000"/>
          </a:bodyPr>
          <a:lstStyle/>
          <a:p>
            <a:r>
              <a:rPr lang="en-US" sz="4800" b="1" dirty="0"/>
              <a:t>1. Apollo Hospitals – Chennai &amp; Navi Mumbai</a:t>
            </a:r>
            <a:br>
              <a:rPr lang="en-US" sz="4800" b="1" dirty="0"/>
            </a:br>
            <a:br>
              <a:rPr lang="en-US" sz="4800" b="1" dirty="0"/>
            </a:br>
            <a:r>
              <a:rPr lang="en-US" sz="4800" b="1" dirty="0"/>
              <a:t>Established:</a:t>
            </a:r>
            <a:r>
              <a:rPr lang="en-US" sz="4800" dirty="0"/>
              <a:t> Apollo Group founded in 1983</a:t>
            </a:r>
            <a:br>
              <a:rPr lang="en-US" sz="4800" dirty="0"/>
            </a:br>
            <a:r>
              <a:rPr lang="en-US" sz="4800" b="1" dirty="0"/>
              <a:t>Locations:</a:t>
            </a:r>
            <a:r>
              <a:rPr lang="en-US" sz="4800" dirty="0"/>
              <a:t> Chennai, Tamil Nadu | Navi Mumbai, Maharashtra</a:t>
            </a:r>
            <a:br>
              <a:rPr lang="en-US" sz="4800" dirty="0"/>
            </a:br>
            <a:br>
              <a:rPr lang="en-US" sz="4800" dirty="0"/>
            </a:br>
            <a:r>
              <a:rPr lang="en-US" sz="4800" dirty="0"/>
              <a:t>Apollo's healthcare journey began with its flagship hospital in </a:t>
            </a:r>
            <a:r>
              <a:rPr lang="en-US" sz="4800" b="1" dirty="0"/>
              <a:t>Chennai in 1983</a:t>
            </a:r>
            <a:r>
              <a:rPr lang="en-US" sz="4800" dirty="0"/>
              <a:t>. It subsequently developed into one of India's best-known integrated healthcare groups. Apollo's Chennai and Navi Mumbai hospitals provide tertiary and quaternary care across major specialties. </a:t>
            </a:r>
            <a:br>
              <a:rPr lang="en-US" sz="4800" dirty="0"/>
            </a:br>
            <a:br>
              <a:rPr lang="en-US" sz="4800" dirty="0"/>
            </a:br>
            <a:r>
              <a:rPr lang="en-US" sz="4800" b="1" dirty="0"/>
              <a:t>Clinical Excellence &amp; Reputation:</a:t>
            </a:r>
            <a:r>
              <a:rPr lang="en-US" sz="4800" dirty="0"/>
              <a:t> Apollo is particularly established in </a:t>
            </a:r>
            <a:r>
              <a:rPr lang="en-US" sz="4800" b="1" dirty="0"/>
              <a:t>oncology, cardiac sciences, organ transplantation, neurosciences, </a:t>
            </a:r>
            <a:r>
              <a:rPr lang="en-US" sz="4800" b="1" dirty="0" err="1"/>
              <a:t>orthopaedics</a:t>
            </a:r>
            <a:r>
              <a:rPr lang="en-US" sz="4800" b="1" dirty="0"/>
              <a:t>, gastroenterology and </a:t>
            </a:r>
            <a:r>
              <a:rPr lang="en-US" sz="4800" b="1" dirty="0" err="1"/>
              <a:t>paediatrics</a:t>
            </a:r>
            <a:r>
              <a:rPr lang="en-US" sz="4800" dirty="0"/>
              <a:t>. Both Apollo Chennai and Apollo Navi Mumbai appear on Apollo's JCI-accreditation listing, with Chennai's latest listed accreditation in 2024 and Navi Mumbai's in 2023. </a:t>
            </a:r>
            <a:br>
              <a:rPr lang="en-US" sz="4800" dirty="0"/>
            </a:br>
            <a:br>
              <a:rPr lang="en-US" sz="4800" dirty="0"/>
            </a:br>
            <a:br>
              <a:rPr lang="en-US" sz="4800" dirty="0"/>
            </a:br>
            <a:r>
              <a:rPr lang="en-US" sz="4800" i="1" dirty="0"/>
              <a:t>More than four decades of healthcare experience combined with advanced multidisciplinary treatment and extensive international-patient services.</a:t>
            </a:r>
            <a:br>
              <a:rPr lang="en-US" sz="4800" dirty="0"/>
            </a:br>
            <a:endParaRPr lang="en-US" sz="4800" dirty="0"/>
          </a:p>
          <a:p>
            <a:r>
              <a:rPr lang="en-US" sz="4800" b="1" dirty="0"/>
              <a:t>2. Manipal Hospital – Bengaluru</a:t>
            </a:r>
            <a:br>
              <a:rPr lang="en-US" sz="4800" b="1" dirty="0"/>
            </a:br>
            <a:br>
              <a:rPr lang="en-US" sz="4800" b="1" dirty="0"/>
            </a:br>
            <a:r>
              <a:rPr lang="en-US" sz="4800" b="1" dirty="0"/>
              <a:t>Established:</a:t>
            </a:r>
            <a:r>
              <a:rPr lang="en-US" sz="4800" dirty="0"/>
              <a:t> 1991</a:t>
            </a:r>
            <a:br>
              <a:rPr lang="en-US" sz="4800" dirty="0"/>
            </a:br>
            <a:r>
              <a:rPr lang="en-US" sz="4800" b="1" dirty="0"/>
              <a:t>Location:</a:t>
            </a:r>
            <a:r>
              <a:rPr lang="en-US" sz="4800" dirty="0"/>
              <a:t> Old Airport Road, Bengaluru, Karnataka</a:t>
            </a:r>
            <a:br>
              <a:rPr lang="en-US" sz="4800" dirty="0"/>
            </a:br>
            <a:br>
              <a:rPr lang="en-US" sz="4800" dirty="0"/>
            </a:br>
            <a:r>
              <a:rPr lang="en-US" sz="4800" dirty="0"/>
              <a:t>Manipal Hospital Old Airport Road opened in </a:t>
            </a:r>
            <a:r>
              <a:rPr lang="en-US" sz="4800" b="1" dirty="0"/>
              <a:t>1991</a:t>
            </a:r>
            <a:r>
              <a:rPr lang="en-US" sz="4800" dirty="0"/>
              <a:t> and is the flagship hospital from which the Manipal Hospitals network traces its origins. Its roots are associated with the wider Manipal Group and the healthcare and educational legacy of Dr T. M. A. Pai. </a:t>
            </a:r>
            <a:br>
              <a:rPr lang="en-US" sz="4800" dirty="0"/>
            </a:br>
            <a:br>
              <a:rPr lang="en-US" sz="4800" dirty="0"/>
            </a:br>
            <a:r>
              <a:rPr lang="en-US" sz="4800" b="1" dirty="0"/>
              <a:t>Clinical Excellence &amp; Reputation:</a:t>
            </a:r>
            <a:r>
              <a:rPr lang="en-US" sz="4800" dirty="0"/>
              <a:t> The Bengaluru flagship provides tertiary and quaternary multidisciplinary care, making it suitable for complex cases requiring collaboration between several medical specialties.</a:t>
            </a:r>
            <a:br>
              <a:rPr lang="en-US" sz="4800" dirty="0"/>
            </a:br>
            <a:br>
              <a:rPr lang="en-US" sz="4800" dirty="0"/>
            </a:br>
            <a:r>
              <a:rPr lang="en-US" sz="4800" i="1" dirty="0"/>
              <a:t>A long-established Bengaluru flagship combining multidisciplinary expertise, advanced technology and complex tertiary and quaternary care.</a:t>
            </a:r>
            <a:br>
              <a:rPr lang="en-US" sz="4800" dirty="0"/>
            </a:br>
            <a:endParaRPr lang="en-US" sz="4800" dirty="0"/>
          </a:p>
          <a:p>
            <a:r>
              <a:rPr lang="en-US" sz="4800" b="1" dirty="0"/>
              <a:t>3. KIMS Hospitals – Hyderabad/</a:t>
            </a:r>
            <a:r>
              <a:rPr lang="en-US" sz="4800" b="1" dirty="0" err="1"/>
              <a:t>Secunderabad</a:t>
            </a:r>
            <a:br>
              <a:rPr lang="en-US" sz="4800" b="1" dirty="0"/>
            </a:br>
            <a:br>
              <a:rPr lang="en-US" sz="4800" b="1" dirty="0"/>
            </a:br>
            <a:r>
              <a:rPr lang="en-US" sz="4800" b="1" dirty="0"/>
              <a:t>Established in </a:t>
            </a:r>
            <a:r>
              <a:rPr lang="en-US" sz="4800" b="1" dirty="0" err="1"/>
              <a:t>Secunderabad</a:t>
            </a:r>
            <a:r>
              <a:rPr lang="en-US" sz="4800" b="1" dirty="0"/>
              <a:t>:</a:t>
            </a:r>
            <a:r>
              <a:rPr lang="en-US" sz="4800" dirty="0"/>
              <a:t> 2004</a:t>
            </a:r>
            <a:br>
              <a:rPr lang="en-US" sz="4800" dirty="0"/>
            </a:br>
            <a:r>
              <a:rPr lang="en-US" sz="4800" b="1" dirty="0"/>
              <a:t>Location:</a:t>
            </a:r>
            <a:r>
              <a:rPr lang="en-US" sz="4800" dirty="0"/>
              <a:t> </a:t>
            </a:r>
            <a:r>
              <a:rPr lang="en-US" sz="4800" dirty="0" err="1"/>
              <a:t>Secunderabad</a:t>
            </a:r>
            <a:r>
              <a:rPr lang="en-US" sz="4800" dirty="0"/>
              <a:t>, Hyderabad, Telangana</a:t>
            </a:r>
            <a:br>
              <a:rPr lang="en-US" sz="4800" dirty="0"/>
            </a:br>
            <a:br>
              <a:rPr lang="en-US" sz="4800" dirty="0"/>
            </a:br>
            <a:r>
              <a:rPr lang="en-US" sz="4800" dirty="0"/>
              <a:t>Krishna Institute of Medical Sciences (</a:t>
            </a:r>
            <a:r>
              <a:rPr lang="en-US" sz="4800" b="1" dirty="0"/>
              <a:t>KIMS</a:t>
            </a:r>
            <a:r>
              <a:rPr lang="en-US" sz="4800" dirty="0"/>
              <a:t>) traces its hospital history to KIMS Nellore in 2000, followed by the establishment of </a:t>
            </a:r>
            <a:r>
              <a:rPr lang="en-US" sz="4800" b="1" dirty="0"/>
              <a:t>KIMS </a:t>
            </a:r>
            <a:r>
              <a:rPr lang="en-US" sz="4800" b="1" dirty="0" err="1"/>
              <a:t>Secunderabad</a:t>
            </a:r>
            <a:r>
              <a:rPr lang="en-US" sz="4800" b="1" dirty="0"/>
              <a:t> in 2004</a:t>
            </a:r>
            <a:r>
              <a:rPr lang="en-US" sz="4800" dirty="0"/>
              <a:t>. The network subsequently expanded across several locations. </a:t>
            </a:r>
            <a:br>
              <a:rPr lang="en-US" sz="4800" dirty="0"/>
            </a:br>
            <a:r>
              <a:rPr lang="en-US" sz="4800" b="1" dirty="0"/>
              <a:t>Clinical Excellence &amp; Reputation:</a:t>
            </a:r>
            <a:r>
              <a:rPr lang="en-US" sz="4800" dirty="0"/>
              <a:t> KIMS </a:t>
            </a:r>
            <a:r>
              <a:rPr lang="en-US" sz="4800" dirty="0" err="1"/>
              <a:t>Secunderabad</a:t>
            </a:r>
            <a:r>
              <a:rPr lang="en-US" sz="4800" dirty="0"/>
              <a:t> has held </a:t>
            </a:r>
            <a:r>
              <a:rPr lang="en-US" sz="4800" b="1" dirty="0"/>
              <a:t>NABH accreditation since 2011</a:t>
            </a:r>
            <a:r>
              <a:rPr lang="en-US" sz="4800" dirty="0"/>
              <a:t> and NABL accreditation since 2015, according to KIMS. Its clinical strengths include neurosciences, cardiac sciences, transplantation and other complex specialties. </a:t>
            </a:r>
            <a:br>
              <a:rPr lang="en-US" sz="4800" dirty="0"/>
            </a:br>
            <a:br>
              <a:rPr lang="en-US" sz="4800" dirty="0"/>
            </a:br>
            <a:r>
              <a:rPr lang="en-US" sz="4800" i="1" dirty="0"/>
              <a:t>A major South Indian healthcare institution offering advanced multidisciplinary and super-specialty treatment.</a:t>
            </a:r>
            <a:endParaRPr lang="en-US" sz="4800" dirty="0"/>
          </a:p>
          <a:p>
            <a:pPr marL="0" indent="0">
              <a:buNone/>
            </a:pPr>
            <a:br>
              <a:rPr lang="en-US" sz="4000" dirty="0"/>
            </a:br>
            <a:endParaRPr lang="en-US" sz="4000" dirty="0"/>
          </a:p>
          <a:p>
            <a:endParaRPr lang="en-US" dirty="0"/>
          </a:p>
        </p:txBody>
      </p:sp>
    </p:spTree>
    <p:extLst>
      <p:ext uri="{BB962C8B-B14F-4D97-AF65-F5344CB8AC3E}">
        <p14:creationId xmlns:p14="http://schemas.microsoft.com/office/powerpoint/2010/main" val="789761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F210F2-673E-2F9E-ABB2-7659535BEFF8}"/>
              </a:ext>
            </a:extLst>
          </p:cNvPr>
          <p:cNvSpPr>
            <a:spLocks noGrp="1"/>
          </p:cNvSpPr>
          <p:nvPr>
            <p:ph idx="1"/>
          </p:nvPr>
        </p:nvSpPr>
        <p:spPr>
          <a:xfrm>
            <a:off x="838200" y="345740"/>
            <a:ext cx="10515600" cy="4351338"/>
          </a:xfrm>
        </p:spPr>
        <p:txBody>
          <a:bodyPr>
            <a:normAutofit fontScale="25000" lnSpcReduction="20000"/>
          </a:bodyPr>
          <a:lstStyle/>
          <a:p>
            <a:r>
              <a:rPr lang="en-US" sz="4400" b="1" dirty="0"/>
              <a:t>4. Yashoda Hospitals – Hyderabad</a:t>
            </a:r>
            <a:br>
              <a:rPr lang="en-US" sz="4400" b="1" dirty="0"/>
            </a:br>
            <a:br>
              <a:rPr lang="en-US" sz="4400" b="1" dirty="0"/>
            </a:br>
            <a:r>
              <a:rPr lang="en-US" sz="4400" b="1" dirty="0"/>
              <a:t>Established:</a:t>
            </a:r>
            <a:r>
              <a:rPr lang="en-US" sz="4400" dirty="0"/>
              <a:t> Origins in 1989</a:t>
            </a:r>
            <a:br>
              <a:rPr lang="en-US" sz="4400" dirty="0"/>
            </a:br>
            <a:r>
              <a:rPr lang="en-US" sz="4400" b="1" dirty="0"/>
              <a:t>Location:</a:t>
            </a:r>
            <a:r>
              <a:rPr lang="en-US" sz="4400" dirty="0"/>
              <a:t> Hyderabad, Telangana</a:t>
            </a:r>
            <a:br>
              <a:rPr lang="en-US" sz="4400" dirty="0"/>
            </a:br>
            <a:r>
              <a:rPr lang="en-US" sz="4400" dirty="0"/>
              <a:t>Yashoda Hospitals traces its beginnings to </a:t>
            </a:r>
            <a:r>
              <a:rPr lang="en-US" sz="4400" b="1" dirty="0"/>
              <a:t>1989</a:t>
            </a:r>
            <a:r>
              <a:rPr lang="en-US" sz="4400" dirty="0"/>
              <a:t>, when Dr G. Surender Rao and his brothers developed what began as a relatively small medical practice into the Yashoda hospital network. </a:t>
            </a:r>
            <a:br>
              <a:rPr lang="en-US" sz="4400" dirty="0"/>
            </a:br>
            <a:br>
              <a:rPr lang="en-US" sz="4400" dirty="0"/>
            </a:br>
            <a:r>
              <a:rPr lang="en-US" sz="4400" b="1" dirty="0"/>
              <a:t>Clinical Excellence &amp; Reputation:</a:t>
            </a:r>
            <a:r>
              <a:rPr lang="en-US" sz="4400" dirty="0"/>
              <a:t> Yashoda has developed strong </a:t>
            </a:r>
            <a:r>
              <a:rPr lang="en-US" sz="4400" dirty="0" err="1"/>
              <a:t>programmes</a:t>
            </a:r>
            <a:r>
              <a:rPr lang="en-US" sz="4400" dirty="0"/>
              <a:t> in </a:t>
            </a:r>
            <a:r>
              <a:rPr lang="en-US" sz="4400" b="1" dirty="0"/>
              <a:t>oncology, neurosciences, cardiac sciences, transplantation, </a:t>
            </a:r>
            <a:r>
              <a:rPr lang="en-US" sz="4400" b="1" dirty="0" err="1"/>
              <a:t>orthopaedics</a:t>
            </a:r>
            <a:r>
              <a:rPr lang="en-US" sz="4400" b="1" dirty="0"/>
              <a:t> and other tertiary specialties</a:t>
            </a:r>
            <a:r>
              <a:rPr lang="en-US" sz="4400" dirty="0"/>
              <a:t>. Its hospitals operate within </a:t>
            </a:r>
            <a:r>
              <a:rPr lang="en-US" sz="4400" dirty="0" err="1"/>
              <a:t>recognised</a:t>
            </a:r>
            <a:r>
              <a:rPr lang="en-US" sz="4400" dirty="0"/>
              <a:t> quality frameworks, including NABH/NABL accreditation. </a:t>
            </a:r>
            <a:br>
              <a:rPr lang="en-US" sz="4400" dirty="0"/>
            </a:br>
            <a:br>
              <a:rPr lang="en-US" sz="4400" dirty="0"/>
            </a:br>
            <a:r>
              <a:rPr lang="en-US" sz="4400" i="1" dirty="0"/>
              <a:t>More than three decades of healthcare development with strong multidisciplinary and advanced-care capabilities.</a:t>
            </a:r>
            <a:endParaRPr lang="en-US" sz="4400" dirty="0"/>
          </a:p>
          <a:p>
            <a:r>
              <a:rPr lang="en-US" sz="4400" b="1" dirty="0"/>
              <a:t>5. Lilavati Hospital &amp; Research Centre – Mumbai</a:t>
            </a:r>
            <a:br>
              <a:rPr lang="en-US" sz="4400" b="1" dirty="0"/>
            </a:br>
            <a:br>
              <a:rPr lang="en-US" sz="4400" b="1" dirty="0"/>
            </a:br>
            <a:r>
              <a:rPr lang="en-US" sz="4400" b="1" dirty="0"/>
              <a:t>Established:</a:t>
            </a:r>
            <a:r>
              <a:rPr lang="en-US" sz="4400" dirty="0"/>
              <a:t> 1997</a:t>
            </a:r>
            <a:br>
              <a:rPr lang="en-US" sz="4400" dirty="0"/>
            </a:br>
            <a:r>
              <a:rPr lang="en-US" sz="4400" b="1" dirty="0"/>
              <a:t>Location:</a:t>
            </a:r>
            <a:r>
              <a:rPr lang="en-US" sz="4400" dirty="0"/>
              <a:t> Bandra West, Mumbai, Maharashtra</a:t>
            </a:r>
            <a:br>
              <a:rPr lang="en-US" sz="4400" dirty="0"/>
            </a:br>
            <a:br>
              <a:rPr lang="en-US" sz="4400" dirty="0"/>
            </a:br>
            <a:r>
              <a:rPr lang="en-US" sz="4400" dirty="0"/>
              <a:t>Lilavati began operations in </a:t>
            </a:r>
            <a:r>
              <a:rPr lang="en-US" sz="4400" b="1" dirty="0"/>
              <a:t>1997 with 10 beds and 22 doctors</a:t>
            </a:r>
            <a:r>
              <a:rPr lang="en-US" sz="4400" dirty="0"/>
              <a:t>. It has since developed into a 323-bed tertiary-care hospital with more than 300 consultants and 12 operating theatres. </a:t>
            </a:r>
            <a:br>
              <a:rPr lang="en-US" sz="4400" dirty="0"/>
            </a:br>
            <a:br>
              <a:rPr lang="en-US" sz="4400" dirty="0"/>
            </a:br>
            <a:r>
              <a:rPr lang="en-US" sz="4400" b="1" dirty="0"/>
              <a:t>Clinical Excellence &amp; Reputation:</a:t>
            </a:r>
            <a:r>
              <a:rPr lang="en-US" sz="4400" dirty="0"/>
              <a:t> Lilavati describes itself as a multispecialty tertiary-care institution serving both Indian and international patients. It holds </a:t>
            </a:r>
            <a:r>
              <a:rPr lang="en-US" sz="4400" b="1" dirty="0"/>
              <a:t>JCI, NABH and NABL accreditation</a:t>
            </a:r>
            <a:r>
              <a:rPr lang="en-US" sz="4400" dirty="0"/>
              <a:t>. </a:t>
            </a:r>
            <a:br>
              <a:rPr lang="en-US" sz="4400" dirty="0"/>
            </a:br>
            <a:br>
              <a:rPr lang="en-US" sz="4400" dirty="0"/>
            </a:br>
            <a:r>
              <a:rPr lang="en-US" sz="4400" i="1" dirty="0"/>
              <a:t>A respected Mumbai institution combining advanced multispecialty medicine with its philosophy of “More than Healthcare, Human Care.”</a:t>
            </a:r>
            <a:br>
              <a:rPr lang="en-US" sz="4400" i="1" dirty="0"/>
            </a:br>
            <a:endParaRPr lang="en-US" sz="4400" dirty="0"/>
          </a:p>
          <a:p>
            <a:r>
              <a:rPr lang="en-US" sz="4400" b="1" dirty="0"/>
              <a:t>6. </a:t>
            </a:r>
            <a:r>
              <a:rPr lang="en-US" sz="4400" b="1" dirty="0" err="1"/>
              <a:t>Medanta</a:t>
            </a:r>
            <a:r>
              <a:rPr lang="en-US" sz="4400" b="1" dirty="0"/>
              <a:t> – The </a:t>
            </a:r>
            <a:r>
              <a:rPr lang="en-US" sz="4400" b="1" dirty="0" err="1"/>
              <a:t>Medicity</a:t>
            </a:r>
            <a:br>
              <a:rPr lang="en-US" sz="4400" b="1" dirty="0"/>
            </a:br>
            <a:br>
              <a:rPr lang="en-US" sz="4400" b="1" dirty="0"/>
            </a:br>
            <a:r>
              <a:rPr lang="en-US" sz="4400" b="1" dirty="0"/>
              <a:t>Established:</a:t>
            </a:r>
            <a:r>
              <a:rPr lang="en-US" sz="4400" dirty="0"/>
              <a:t> 2009</a:t>
            </a:r>
            <a:br>
              <a:rPr lang="en-US" sz="4400" dirty="0"/>
            </a:br>
            <a:r>
              <a:rPr lang="en-US" sz="4400" b="1" dirty="0"/>
              <a:t>Location:</a:t>
            </a:r>
            <a:r>
              <a:rPr lang="en-US" sz="4400" dirty="0"/>
              <a:t> Gurugram, Delhi NCR</a:t>
            </a:r>
            <a:br>
              <a:rPr lang="en-US" sz="4400" dirty="0"/>
            </a:br>
            <a:r>
              <a:rPr lang="en-US" sz="4400" dirty="0" err="1"/>
              <a:t>Medanta</a:t>
            </a:r>
            <a:r>
              <a:rPr lang="en-US" sz="4400" dirty="0"/>
              <a:t> was founded by renowned cardiovascular and cardiothoracic surgeon </a:t>
            </a:r>
            <a:r>
              <a:rPr lang="en-US" sz="4400" b="1" dirty="0"/>
              <a:t>Dr Naresh Trehan</a:t>
            </a:r>
            <a:r>
              <a:rPr lang="en-US" sz="4400" dirty="0"/>
              <a:t>. Its founding Gurugram hospital opened in </a:t>
            </a:r>
            <a:r>
              <a:rPr lang="en-US" sz="4400" b="1" dirty="0"/>
              <a:t>2009</a:t>
            </a:r>
            <a:r>
              <a:rPr lang="en-US" sz="4400" dirty="0"/>
              <a:t> on a 43-acre campus and today reports 1,440 operational beds, 316 ICU beds and 40 operating theatres across more than 30 super-specialties. </a:t>
            </a:r>
            <a:br>
              <a:rPr lang="en-US" sz="4400" dirty="0"/>
            </a:br>
            <a:br>
              <a:rPr lang="en-US" sz="4400" dirty="0"/>
            </a:br>
            <a:r>
              <a:rPr lang="en-US" sz="4400" b="1" dirty="0"/>
              <a:t>Clinical Excellence &amp; Reputation:</a:t>
            </a:r>
            <a:r>
              <a:rPr lang="en-US" sz="4400" dirty="0"/>
              <a:t> </a:t>
            </a:r>
            <a:r>
              <a:rPr lang="en-US" sz="4400" dirty="0" err="1"/>
              <a:t>Medanta</a:t>
            </a:r>
            <a:r>
              <a:rPr lang="en-US" sz="4400" dirty="0"/>
              <a:t> reports that its Gurugram hospital was ranked </a:t>
            </a:r>
            <a:r>
              <a:rPr lang="en-US" sz="4400" b="1" dirty="0"/>
              <a:t>India's No. 1 hospital in Newsweek's World's Best Hospitals rankings for seven consecutive years, 2020–2026</a:t>
            </a:r>
            <a:r>
              <a:rPr lang="en-US" sz="4400" dirty="0"/>
              <a:t>, and states that it holds JCI, NABH and NABL accreditation. </a:t>
            </a:r>
            <a:br>
              <a:rPr lang="en-US" sz="4400" dirty="0"/>
            </a:br>
            <a:br>
              <a:rPr lang="en-US" sz="4400" dirty="0"/>
            </a:br>
            <a:r>
              <a:rPr lang="en-US" sz="4400" i="1" dirty="0"/>
              <a:t>One of India's prominent high-acuity medical </a:t>
            </a:r>
            <a:r>
              <a:rPr lang="en-US" sz="4400" i="1" dirty="0" err="1"/>
              <a:t>centres</a:t>
            </a:r>
            <a:r>
              <a:rPr lang="en-US" sz="4400" i="1" dirty="0"/>
              <a:t>, bringing multiple super-specialties together on a large integrated campus.</a:t>
            </a:r>
            <a:br>
              <a:rPr lang="en-US" sz="4400" dirty="0"/>
            </a:br>
            <a:endParaRPr lang="en-US" sz="4400" dirty="0"/>
          </a:p>
          <a:p>
            <a:r>
              <a:rPr lang="en-US" sz="4400" b="1" dirty="0"/>
              <a:t>7. Fortis Escorts Heart Institute – New Delhi</a:t>
            </a:r>
            <a:br>
              <a:rPr lang="en-US" sz="4400" b="1" dirty="0"/>
            </a:br>
            <a:br>
              <a:rPr lang="en-US" sz="4400" b="1" dirty="0"/>
            </a:br>
            <a:r>
              <a:rPr lang="en-US" sz="4400" b="1" dirty="0"/>
              <a:t>Location:</a:t>
            </a:r>
            <a:r>
              <a:rPr lang="en-US" sz="4400" dirty="0"/>
              <a:t> Okhla Road, New Delhi</a:t>
            </a:r>
            <a:br>
              <a:rPr lang="en-US" sz="4400" dirty="0"/>
            </a:br>
            <a:r>
              <a:rPr lang="en-US" sz="4400" b="1" dirty="0"/>
              <a:t>Capacity:</a:t>
            </a:r>
            <a:r>
              <a:rPr lang="en-US" sz="4400" dirty="0"/>
              <a:t> 310 beds</a:t>
            </a:r>
            <a:br>
              <a:rPr lang="en-US" sz="4400" dirty="0"/>
            </a:br>
            <a:br>
              <a:rPr lang="en-US" sz="4400" dirty="0"/>
            </a:br>
            <a:r>
              <a:rPr lang="en-US" sz="4400" dirty="0"/>
              <a:t>For your website I recommend specifying </a:t>
            </a:r>
            <a:r>
              <a:rPr lang="en-US" sz="4400" b="1" dirty="0"/>
              <a:t>Fortis Escorts Heart Institute</a:t>
            </a:r>
            <a:r>
              <a:rPr lang="en-US" sz="4400" dirty="0"/>
              <a:t>, rather than simply “Fortis Delhi.”</a:t>
            </a:r>
            <a:br>
              <a:rPr lang="en-US" sz="4400" dirty="0"/>
            </a:br>
            <a:br>
              <a:rPr lang="en-US" sz="4400" dirty="0"/>
            </a:br>
            <a:r>
              <a:rPr lang="en-US" sz="4400" dirty="0"/>
              <a:t>Fortis describes the hospital as an internationally </a:t>
            </a:r>
            <a:r>
              <a:rPr lang="en-US" sz="4400" dirty="0" err="1"/>
              <a:t>recognised</a:t>
            </a:r>
            <a:r>
              <a:rPr lang="en-US" sz="4400" dirty="0"/>
              <a:t> institution particularly known for its work in </a:t>
            </a:r>
            <a:r>
              <a:rPr lang="en-US" sz="4400" b="1" dirty="0"/>
              <a:t>cardiac sciences</a:t>
            </a:r>
            <a:r>
              <a:rPr lang="en-US" sz="4400" dirty="0"/>
              <a:t>. It has 13 operating theatres and five </a:t>
            </a:r>
            <a:r>
              <a:rPr lang="en-US" sz="4400" dirty="0" err="1"/>
              <a:t>catheterisation</a:t>
            </a:r>
            <a:r>
              <a:rPr lang="en-US" sz="4400" dirty="0"/>
              <a:t> laboratories, alongside </a:t>
            </a:r>
            <a:r>
              <a:rPr lang="en-US" sz="4400" dirty="0" err="1"/>
              <a:t>programmes</a:t>
            </a:r>
            <a:r>
              <a:rPr lang="en-US" sz="4400" dirty="0"/>
              <a:t> in heart, liver and kidney transplantation. </a:t>
            </a:r>
            <a:br>
              <a:rPr lang="en-US" sz="4400" dirty="0"/>
            </a:br>
            <a:br>
              <a:rPr lang="en-US" sz="4400" dirty="0"/>
            </a:br>
            <a:r>
              <a:rPr lang="en-US" sz="4400" b="1" dirty="0"/>
              <a:t>Clinical Excellence &amp; Reputation:</a:t>
            </a:r>
            <a:r>
              <a:rPr lang="en-US" sz="4400" dirty="0"/>
              <a:t> Its cardiac </a:t>
            </a:r>
            <a:r>
              <a:rPr lang="en-US" sz="4400" dirty="0" err="1"/>
              <a:t>programme</a:t>
            </a:r>
            <a:r>
              <a:rPr lang="en-US" sz="4400" dirty="0"/>
              <a:t> includes complex angioplasty, TAVR, electrophysiology, adult and </a:t>
            </a:r>
            <a:r>
              <a:rPr lang="en-US" sz="4400" dirty="0" err="1"/>
              <a:t>paediatric</a:t>
            </a:r>
            <a:r>
              <a:rPr lang="en-US" sz="4400" dirty="0"/>
              <a:t> cardiac surgery, </a:t>
            </a:r>
            <a:r>
              <a:rPr lang="en-US" sz="4400" b="1" dirty="0"/>
              <a:t>LVAD</a:t>
            </a:r>
            <a:r>
              <a:rPr lang="en-US" sz="4400" dirty="0"/>
              <a:t>, minimally invasive cardiac surgery and heart transplantation. The facility is NABH accredited. </a:t>
            </a:r>
            <a:br>
              <a:rPr lang="en-US" sz="4400" dirty="0"/>
            </a:br>
            <a:br>
              <a:rPr lang="en-US" sz="4400" dirty="0"/>
            </a:br>
            <a:r>
              <a:rPr lang="en-US" sz="4400" i="1" dirty="0"/>
              <a:t>A renowned destination for advanced cardiac medicine and surgery, including complex interventions, LVAD and heart transplantation.</a:t>
            </a:r>
            <a:endParaRPr lang="en-US" sz="4400" dirty="0"/>
          </a:p>
          <a:p>
            <a:br>
              <a:rPr lang="en-US" dirty="0"/>
            </a:br>
            <a:endParaRPr lang="en-US" dirty="0"/>
          </a:p>
          <a:p>
            <a:endParaRPr lang="en-US" dirty="0"/>
          </a:p>
        </p:txBody>
      </p:sp>
    </p:spTree>
    <p:extLst>
      <p:ext uri="{BB962C8B-B14F-4D97-AF65-F5344CB8AC3E}">
        <p14:creationId xmlns:p14="http://schemas.microsoft.com/office/powerpoint/2010/main" val="3628280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E3C694-8983-F6AD-EAA4-467E4DF6B17A}"/>
              </a:ext>
            </a:extLst>
          </p:cNvPr>
          <p:cNvSpPr>
            <a:spLocks noGrp="1"/>
          </p:cNvSpPr>
          <p:nvPr>
            <p:ph idx="1"/>
          </p:nvPr>
        </p:nvSpPr>
        <p:spPr>
          <a:xfrm>
            <a:off x="838200" y="381835"/>
            <a:ext cx="10515600" cy="4351338"/>
          </a:xfrm>
        </p:spPr>
        <p:txBody>
          <a:bodyPr>
            <a:normAutofit fontScale="25000" lnSpcReduction="20000"/>
          </a:bodyPr>
          <a:lstStyle/>
          <a:p>
            <a:r>
              <a:rPr lang="en-US" sz="3600" b="1" dirty="0"/>
              <a:t>8. Paras Health – Gurugram, Delhi NCR</a:t>
            </a:r>
            <a:br>
              <a:rPr lang="en-US" sz="3600" b="1" dirty="0"/>
            </a:br>
            <a:br>
              <a:rPr lang="en-US" sz="3600" b="1" dirty="0"/>
            </a:br>
            <a:r>
              <a:rPr lang="en-US" sz="3600" b="1" dirty="0"/>
              <a:t>Established:</a:t>
            </a:r>
            <a:r>
              <a:rPr lang="en-US" sz="3600" dirty="0"/>
              <a:t> 2006</a:t>
            </a:r>
            <a:br>
              <a:rPr lang="en-US" sz="3600" dirty="0"/>
            </a:br>
            <a:r>
              <a:rPr lang="en-US" sz="3600" b="1" dirty="0"/>
              <a:t>Location:</a:t>
            </a:r>
            <a:r>
              <a:rPr lang="en-US" sz="3600" dirty="0"/>
              <a:t> Gurugram, Haryana, Delhi NCR</a:t>
            </a:r>
            <a:br>
              <a:rPr lang="en-US" sz="3600" dirty="0"/>
            </a:br>
            <a:br>
              <a:rPr lang="en-US" sz="3600" dirty="0"/>
            </a:br>
            <a:r>
              <a:rPr lang="en-US" sz="3600" dirty="0"/>
              <a:t>Assuming “Pranas” refers to </a:t>
            </a:r>
            <a:r>
              <a:rPr lang="en-US" sz="3600" b="1" dirty="0"/>
              <a:t>Paras Health</a:t>
            </a:r>
            <a:r>
              <a:rPr lang="en-US" sz="3600" dirty="0"/>
              <a:t>, its flagship Gurugram hospital was established in </a:t>
            </a:r>
            <a:r>
              <a:rPr lang="en-US" sz="3600" b="1" dirty="0"/>
              <a:t>2006</a:t>
            </a:r>
            <a:r>
              <a:rPr lang="en-US" sz="3600" dirty="0"/>
              <a:t>. Paras says it was the first corporate hospital entrant among its peers in Gurugram and the first hospital in Haryana to obtain both NABH and NABL accreditation. </a:t>
            </a:r>
            <a:br>
              <a:rPr lang="en-US" sz="3600" dirty="0"/>
            </a:br>
            <a:br>
              <a:rPr lang="en-US" sz="3600" dirty="0"/>
            </a:br>
            <a:r>
              <a:rPr lang="en-US" sz="3600" b="1" dirty="0"/>
              <a:t>Clinical Excellence &amp; Reputation:</a:t>
            </a:r>
            <a:r>
              <a:rPr lang="en-US" sz="3600" dirty="0"/>
              <a:t> Areas of focus include </a:t>
            </a:r>
            <a:r>
              <a:rPr lang="en-US" sz="3600" b="1" dirty="0"/>
              <a:t>neurosciences, cardiac sciences, oncology, gastroenterology, </a:t>
            </a:r>
            <a:r>
              <a:rPr lang="en-US" sz="3600" b="1" dirty="0" err="1"/>
              <a:t>orthopaedics</a:t>
            </a:r>
            <a:r>
              <a:rPr lang="en-US" sz="3600" b="1" dirty="0"/>
              <a:t> and renal sciences</a:t>
            </a:r>
            <a:r>
              <a:rPr lang="en-US" sz="3600" dirty="0"/>
              <a:t>. Paras also reports pioneering achievements in image-guided brain-</a:t>
            </a:r>
            <a:r>
              <a:rPr lang="en-US" sz="3600" dirty="0" err="1"/>
              <a:t>tumour</a:t>
            </a:r>
            <a:r>
              <a:rPr lang="en-US" sz="3600" dirty="0"/>
              <a:t> navigation surgery and day-care angioplasty. </a:t>
            </a:r>
            <a:br>
              <a:rPr lang="en-US" sz="3600" dirty="0"/>
            </a:br>
            <a:br>
              <a:rPr lang="en-US" sz="3600" dirty="0"/>
            </a:br>
            <a:r>
              <a:rPr lang="en-US" sz="3600" i="1" dirty="0"/>
              <a:t>A Delhi NCR tertiary and quaternary care option with particular strength in neurosciences and complex multidisciplinary treatment.</a:t>
            </a:r>
            <a:endParaRPr lang="en-US" sz="3600" dirty="0"/>
          </a:p>
          <a:p>
            <a:pPr marL="0" indent="0">
              <a:buNone/>
            </a:pPr>
            <a:endParaRPr lang="en-US" sz="3600" dirty="0"/>
          </a:p>
          <a:p>
            <a:r>
              <a:rPr lang="en-US" sz="3600" b="1" dirty="0"/>
              <a:t>9. Max Super </a:t>
            </a:r>
            <a:r>
              <a:rPr lang="en-US" sz="3600" b="1" dirty="0" err="1"/>
              <a:t>Speciality</a:t>
            </a:r>
            <a:r>
              <a:rPr lang="en-US" sz="3600" b="1" dirty="0"/>
              <a:t> Hospital – Saket</a:t>
            </a:r>
            <a:br>
              <a:rPr lang="en-US" sz="3600" b="1" dirty="0"/>
            </a:br>
            <a:br>
              <a:rPr lang="en-US" sz="3600" b="1" dirty="0"/>
            </a:br>
            <a:r>
              <a:rPr lang="en-US" sz="3600" b="1" dirty="0"/>
              <a:t>Established:</a:t>
            </a:r>
            <a:r>
              <a:rPr lang="en-US" sz="3600" dirty="0"/>
              <a:t> 2006</a:t>
            </a:r>
            <a:br>
              <a:rPr lang="en-US" sz="3600" dirty="0"/>
            </a:br>
            <a:r>
              <a:rPr lang="en-US" sz="3600" b="1" dirty="0"/>
              <a:t>Location:</a:t>
            </a:r>
            <a:r>
              <a:rPr lang="en-US" sz="3600" dirty="0"/>
              <a:t> Saket, New Delhi</a:t>
            </a:r>
            <a:br>
              <a:rPr lang="en-US" sz="3600" dirty="0"/>
            </a:br>
            <a:r>
              <a:rPr lang="en-US" sz="3600" b="1" dirty="0"/>
              <a:t>Capacity:</a:t>
            </a:r>
            <a:r>
              <a:rPr lang="en-US" sz="3600" dirty="0"/>
              <a:t> 500+ beds</a:t>
            </a:r>
            <a:br>
              <a:rPr lang="en-US" sz="3600" dirty="0"/>
            </a:br>
            <a:br>
              <a:rPr lang="en-US" sz="3600" dirty="0"/>
            </a:br>
            <a:r>
              <a:rPr lang="en-US" sz="3600" dirty="0"/>
              <a:t>Max Super </a:t>
            </a:r>
            <a:r>
              <a:rPr lang="en-US" sz="3600" dirty="0" err="1"/>
              <a:t>Speciality</a:t>
            </a:r>
            <a:r>
              <a:rPr lang="en-US" sz="3600" dirty="0"/>
              <a:t> Hospital Saket is one of Max Healthcare's major tertiary-care institutions in Delhi. Max reports more than 500 beds and extensive services spanning oncology, neurosciences, cardiac sciences and transplantation. </a:t>
            </a:r>
            <a:br>
              <a:rPr lang="en-US" sz="3600" dirty="0"/>
            </a:br>
            <a:br>
              <a:rPr lang="en-US" sz="3600" dirty="0"/>
            </a:br>
            <a:r>
              <a:rPr lang="en-US" sz="3600" b="1" dirty="0"/>
              <a:t>Clinical Excellence &amp; Reputation:</a:t>
            </a:r>
            <a:r>
              <a:rPr lang="en-US" sz="3600" dirty="0"/>
              <a:t> Major </a:t>
            </a:r>
            <a:r>
              <a:rPr lang="en-US" sz="3600" dirty="0" err="1"/>
              <a:t>programmes</a:t>
            </a:r>
            <a:r>
              <a:rPr lang="en-US" sz="3600" dirty="0"/>
              <a:t> include </a:t>
            </a:r>
            <a:r>
              <a:rPr lang="en-US" sz="3600" b="1" dirty="0"/>
              <a:t>cancer care, kidney, liver and bone-marrow transplantation, neurosciences, urology, bariatric and reconstructive surgery</a:t>
            </a:r>
            <a:r>
              <a:rPr lang="en-US" sz="3600" dirty="0"/>
              <a:t>. Max Saket received JCI accreditation in 2017. </a:t>
            </a:r>
            <a:br>
              <a:rPr lang="en-US" sz="3600" dirty="0"/>
            </a:br>
            <a:r>
              <a:rPr lang="en-US" sz="3600" b="1" dirty="0"/>
              <a:t>:</a:t>
            </a:r>
            <a:br>
              <a:rPr lang="en-US" sz="3600" dirty="0"/>
            </a:br>
            <a:r>
              <a:rPr lang="en-US" sz="3600" i="1" dirty="0"/>
              <a:t>A major New Delhi super-specialty hospital with extensive expertise in complex medicine, cancer care and transplantation.</a:t>
            </a:r>
            <a:endParaRPr lang="en-US" sz="3600" dirty="0"/>
          </a:p>
          <a:p>
            <a:pPr marL="0" indent="0">
              <a:buNone/>
            </a:pPr>
            <a:br>
              <a:rPr lang="en-US" sz="3600" dirty="0"/>
            </a:br>
            <a:endParaRPr lang="en-US" sz="3600" dirty="0"/>
          </a:p>
          <a:p>
            <a:r>
              <a:rPr lang="en-US" sz="3600" b="1" dirty="0"/>
              <a:t>10. Sir H. N. Reliance Foundation Hospital – Mumbai</a:t>
            </a:r>
            <a:br>
              <a:rPr lang="en-US" sz="3600" b="1" dirty="0"/>
            </a:br>
            <a:br>
              <a:rPr lang="en-US" sz="3600" b="1" dirty="0"/>
            </a:br>
            <a:r>
              <a:rPr lang="en-US" sz="3600" dirty="0"/>
              <a:t>I suggest this for what you called </a:t>
            </a:r>
            <a:r>
              <a:rPr lang="en-US" sz="3600" b="1" dirty="0"/>
              <a:t>“Ambani Hospital Mumbai”</a:t>
            </a:r>
            <a:r>
              <a:rPr lang="en-US" sz="3600" dirty="0"/>
              <a:t>, because #11 is already Kokilaben Dhirubhai Ambani Hospital.</a:t>
            </a:r>
            <a:br>
              <a:rPr lang="en-US" sz="3600" dirty="0"/>
            </a:br>
            <a:br>
              <a:rPr lang="en-US" sz="3600" dirty="0"/>
            </a:br>
            <a:r>
              <a:rPr lang="en-US" sz="3600" b="1" dirty="0"/>
              <a:t>Location:</a:t>
            </a:r>
            <a:r>
              <a:rPr lang="en-US" sz="3600" dirty="0"/>
              <a:t> South Mumbai</a:t>
            </a:r>
            <a:br>
              <a:rPr lang="en-US" sz="3600" dirty="0"/>
            </a:br>
            <a:r>
              <a:rPr lang="en-US" sz="3600" b="1" dirty="0"/>
              <a:t>Capacity:</a:t>
            </a:r>
            <a:r>
              <a:rPr lang="en-US" sz="3600" dirty="0"/>
              <a:t> 358 beds</a:t>
            </a:r>
            <a:br>
              <a:rPr lang="en-US" sz="3600" dirty="0"/>
            </a:br>
            <a:br>
              <a:rPr lang="en-US" sz="3600" dirty="0"/>
            </a:br>
            <a:r>
              <a:rPr lang="en-US" sz="3600" dirty="0"/>
              <a:t>The institution traces its roots to </a:t>
            </a:r>
            <a:r>
              <a:rPr lang="en-US" sz="3600" b="1" dirty="0"/>
              <a:t>Sir </a:t>
            </a:r>
            <a:r>
              <a:rPr lang="en-US" sz="3600" b="1" dirty="0" err="1"/>
              <a:t>Hurkisondas</a:t>
            </a:r>
            <a:r>
              <a:rPr lang="en-US" sz="3600" b="1" dirty="0"/>
              <a:t> </a:t>
            </a:r>
            <a:r>
              <a:rPr lang="en-US" sz="3600" b="1" dirty="0" err="1"/>
              <a:t>Nurrotumdas</a:t>
            </a:r>
            <a:r>
              <a:rPr lang="en-US" sz="3600" b="1" dirty="0"/>
              <a:t> Hospital, founded in 1918</a:t>
            </a:r>
            <a:r>
              <a:rPr lang="en-US" sz="3600" dirty="0"/>
              <a:t>, and today operates as the technologically advanced Sir H. N. Reliance Foundation Hospital and Research Centre. </a:t>
            </a:r>
            <a:br>
              <a:rPr lang="en-US" sz="3600" dirty="0"/>
            </a:br>
            <a:br>
              <a:rPr lang="en-US" sz="3600" dirty="0"/>
            </a:br>
            <a:r>
              <a:rPr lang="en-US" sz="3600" b="1" dirty="0"/>
              <a:t>Clinical Excellence &amp; Reputation:</a:t>
            </a:r>
            <a:r>
              <a:rPr lang="en-US" sz="3600" dirty="0"/>
              <a:t> Its focus areas include </a:t>
            </a:r>
            <a:r>
              <a:rPr lang="en-US" sz="3600" b="1" dirty="0"/>
              <a:t>cardiac sciences, oncology, neurosciences, gastroenterology and hepatobiliary sciences, liver transplantation, </a:t>
            </a:r>
            <a:r>
              <a:rPr lang="en-US" sz="3600" b="1" dirty="0" err="1"/>
              <a:t>nephro</a:t>
            </a:r>
            <a:r>
              <a:rPr lang="en-US" sz="3600" b="1" dirty="0"/>
              <a:t>-urology, </a:t>
            </a:r>
            <a:r>
              <a:rPr lang="en-US" sz="3600" b="1" dirty="0" err="1"/>
              <a:t>orthopaedics</a:t>
            </a:r>
            <a:r>
              <a:rPr lang="en-US" sz="3600" b="1" dirty="0"/>
              <a:t>/spine, and women &amp; child health</a:t>
            </a:r>
            <a:r>
              <a:rPr lang="en-US" sz="3600" dirty="0"/>
              <a:t>. It is JCI and NABH accredited. The hospital also reports recognition in Newsweek's World's Best Hospitals 2025. </a:t>
            </a:r>
            <a:br>
              <a:rPr lang="en-US" sz="3600" dirty="0"/>
            </a:br>
            <a:br>
              <a:rPr lang="en-US" sz="3600" dirty="0"/>
            </a:br>
            <a:r>
              <a:rPr lang="en-US" sz="3600" i="1" dirty="0"/>
              <a:t>A modern tertiary-care institution in Mumbai built on more than a century of healthcare heritage.</a:t>
            </a:r>
            <a:endParaRPr lang="en-US" sz="3600" dirty="0"/>
          </a:p>
          <a:p>
            <a:pPr marL="0" indent="0">
              <a:buNone/>
            </a:pPr>
            <a:br>
              <a:rPr lang="en-US" sz="3600" dirty="0"/>
            </a:br>
            <a:endParaRPr lang="en-US" sz="3600" dirty="0"/>
          </a:p>
          <a:p>
            <a:r>
              <a:rPr lang="en-US" sz="3600" b="1" dirty="0"/>
              <a:t>11. Kokilaben Dhirubhai Ambani Hospital – Mumbai</a:t>
            </a:r>
            <a:br>
              <a:rPr lang="en-US" sz="3600" b="1" dirty="0"/>
            </a:br>
            <a:br>
              <a:rPr lang="en-US" sz="3600" b="1" dirty="0"/>
            </a:br>
            <a:r>
              <a:rPr lang="en-US" sz="3600" b="1" dirty="0"/>
              <a:t>Established:</a:t>
            </a:r>
            <a:r>
              <a:rPr lang="en-US" sz="3600" dirty="0"/>
              <a:t> 2009</a:t>
            </a:r>
            <a:br>
              <a:rPr lang="en-US" sz="3600" dirty="0"/>
            </a:br>
            <a:r>
              <a:rPr lang="en-US" sz="3600" b="1" dirty="0"/>
              <a:t>Location:</a:t>
            </a:r>
            <a:r>
              <a:rPr lang="en-US" sz="3600" dirty="0"/>
              <a:t> Andheri West, Mumbai</a:t>
            </a:r>
            <a:br>
              <a:rPr lang="en-US" sz="3600" dirty="0"/>
            </a:br>
            <a:r>
              <a:rPr lang="en-US" sz="3600" b="1" dirty="0"/>
              <a:t>Capacity:</a:t>
            </a:r>
            <a:r>
              <a:rPr lang="en-US" sz="3600" dirty="0"/>
              <a:t> 750+ beds</a:t>
            </a:r>
            <a:br>
              <a:rPr lang="en-US" sz="3600" dirty="0"/>
            </a:br>
            <a:br>
              <a:rPr lang="en-US" sz="3600" dirty="0"/>
            </a:br>
            <a:r>
              <a:rPr lang="en-US" sz="3600" dirty="0"/>
              <a:t>Kokilaben Dhirubhai Ambani Hospital &amp; Medical Research Institute opened in </a:t>
            </a:r>
            <a:r>
              <a:rPr lang="en-US" sz="3600" b="1" dirty="0"/>
              <a:t>2009</a:t>
            </a:r>
            <a:r>
              <a:rPr lang="en-US" sz="3600" dirty="0"/>
              <a:t> as a major tertiary-care facility. The hospital reports more than 750 inpatient beds, including 180 critical-care beds. </a:t>
            </a:r>
            <a:br>
              <a:rPr lang="en-US" sz="3600" dirty="0"/>
            </a:br>
            <a:br>
              <a:rPr lang="en-US" sz="3600" dirty="0"/>
            </a:br>
            <a:r>
              <a:rPr lang="en-US" sz="3600" b="1" dirty="0"/>
              <a:t>Clinical Excellence &amp; Reputation:</a:t>
            </a:r>
            <a:r>
              <a:rPr lang="en-US" sz="3600" dirty="0"/>
              <a:t> The hospital holds </a:t>
            </a:r>
            <a:r>
              <a:rPr lang="en-US" sz="3600" b="1" dirty="0"/>
              <a:t>NABH accreditation</a:t>
            </a:r>
            <a:r>
              <a:rPr lang="en-US" sz="3600" dirty="0"/>
              <a:t>, while its laboratory has been CAP accredited since 2013. </a:t>
            </a:r>
            <a:br>
              <a:rPr lang="en-US" sz="3600" dirty="0"/>
            </a:br>
            <a:br>
              <a:rPr lang="en-US" sz="3600" dirty="0"/>
            </a:br>
            <a:r>
              <a:rPr lang="en-US" sz="3600" dirty="0"/>
              <a:t>This is also a good example of how to use </a:t>
            </a:r>
            <a:r>
              <a:rPr lang="en-US" sz="3600" b="1" dirty="0"/>
              <a:t>specific success rates</a:t>
            </a:r>
            <a:r>
              <a:rPr lang="en-US" sz="3600" dirty="0"/>
              <a:t> responsibly. In its 2019 decade report, Kokilaben stated that it had performed more than </a:t>
            </a:r>
            <a:r>
              <a:rPr lang="en-US" sz="3600" b="1" dirty="0"/>
              <a:t>7,000 </a:t>
            </a:r>
            <a:r>
              <a:rPr lang="en-US" sz="3600" b="1" dirty="0" err="1"/>
              <a:t>paediatric</a:t>
            </a:r>
            <a:r>
              <a:rPr lang="en-US" sz="3600" b="1" dirty="0"/>
              <a:t> heart surgeries with a reported 97% success rate</a:t>
            </a:r>
            <a:r>
              <a:rPr lang="en-US" sz="3600" dirty="0"/>
              <a:t>. That figure should be presented specifically as a historical published outcome for that </a:t>
            </a:r>
            <a:r>
              <a:rPr lang="en-US" sz="3600" dirty="0" err="1"/>
              <a:t>programme</a:t>
            </a:r>
            <a:r>
              <a:rPr lang="en-US" sz="3600" dirty="0"/>
              <a:t>—not as a 97% overall hospital success rate. </a:t>
            </a:r>
            <a:br>
              <a:rPr lang="en-US" sz="3600" dirty="0"/>
            </a:br>
            <a:br>
              <a:rPr lang="en-US" sz="3600" dirty="0"/>
            </a:br>
            <a:r>
              <a:rPr lang="en-US" sz="3600" i="1" dirty="0"/>
              <a:t>A major Mumbai tertiary-care institution </a:t>
            </a:r>
            <a:r>
              <a:rPr lang="en-US" sz="3600" i="1" dirty="0" err="1"/>
              <a:t>recognised</a:t>
            </a:r>
            <a:r>
              <a:rPr lang="en-US" sz="3600" i="1" dirty="0"/>
              <a:t> for advanced multidisciplinary </a:t>
            </a:r>
            <a:r>
              <a:rPr lang="en-US" sz="3600" i="1" dirty="0" err="1"/>
              <a:t>programmes</a:t>
            </a:r>
            <a:r>
              <a:rPr lang="en-US" sz="3600" i="1" dirty="0"/>
              <a:t>, technology and complex medical and surgical care.</a:t>
            </a:r>
            <a:endParaRPr lang="en-US" sz="3600"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813253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72F369-9392-B169-5D75-A775440B625F}"/>
              </a:ext>
            </a:extLst>
          </p:cNvPr>
          <p:cNvSpPr>
            <a:spLocks noGrp="1"/>
          </p:cNvSpPr>
          <p:nvPr>
            <p:ph idx="1"/>
          </p:nvPr>
        </p:nvSpPr>
        <p:spPr>
          <a:xfrm>
            <a:off x="838200" y="369804"/>
            <a:ext cx="10515600" cy="4351338"/>
          </a:xfrm>
        </p:spPr>
        <p:txBody>
          <a:bodyPr>
            <a:normAutofit fontScale="25000" lnSpcReduction="20000"/>
          </a:bodyPr>
          <a:lstStyle/>
          <a:p>
            <a:r>
              <a:rPr lang="en-US" sz="4200" b="1" dirty="0"/>
              <a:t>12. Park Hospital – New Delhi</a:t>
            </a:r>
            <a:br>
              <a:rPr lang="en-US" sz="4200" b="1" dirty="0"/>
            </a:br>
            <a:br>
              <a:rPr lang="en-US" sz="4200" b="1" dirty="0"/>
            </a:br>
            <a:r>
              <a:rPr lang="en-US" sz="4200" b="1" dirty="0"/>
              <a:t>Established:</a:t>
            </a:r>
            <a:r>
              <a:rPr lang="en-US" sz="4200" dirty="0"/>
              <a:t> 2005</a:t>
            </a:r>
            <a:br>
              <a:rPr lang="en-US" sz="4200" dirty="0"/>
            </a:br>
            <a:r>
              <a:rPr lang="en-US" sz="4200" b="1" dirty="0"/>
              <a:t>Location:</a:t>
            </a:r>
            <a:r>
              <a:rPr lang="en-US" sz="4200" dirty="0"/>
              <a:t> Meera Enclave, Outer Ring Road, New Delhi</a:t>
            </a:r>
            <a:br>
              <a:rPr lang="en-US" sz="4200" dirty="0"/>
            </a:br>
            <a:r>
              <a:rPr lang="en-US" sz="4200" dirty="0"/>
              <a:t>Park Hospital's first New Delhi facility was established by </a:t>
            </a:r>
            <a:r>
              <a:rPr lang="en-US" sz="4200" b="1" dirty="0"/>
              <a:t>Dr Ajit Gupta in 2005</a:t>
            </a:r>
            <a:r>
              <a:rPr lang="en-US" sz="4200" dirty="0"/>
              <a:t>. The group has subsequently developed into a large North Indian multi-super-specialty network. </a:t>
            </a:r>
            <a:br>
              <a:rPr lang="en-US" sz="4200" dirty="0"/>
            </a:br>
            <a:r>
              <a:rPr lang="en-US" sz="4200" b="1" dirty="0"/>
              <a:t>Clinical Excellence &amp; Reputation:</a:t>
            </a:r>
            <a:r>
              <a:rPr lang="en-US" sz="4200" dirty="0"/>
              <a:t> Park reports more than 30 specialties, including </a:t>
            </a:r>
            <a:r>
              <a:rPr lang="en-US" sz="4200" b="1" dirty="0"/>
              <a:t>oncology, cardiology, neurology, urology, gastroenterology and </a:t>
            </a:r>
            <a:r>
              <a:rPr lang="en-US" sz="4200" b="1" dirty="0" err="1"/>
              <a:t>orthopaedics</a:t>
            </a:r>
            <a:r>
              <a:rPr lang="en-US" sz="4200" dirty="0"/>
              <a:t>. Its network includes 16 NABH-accredited hospitals, according to its current corporate information. </a:t>
            </a:r>
            <a:br>
              <a:rPr lang="en-US" sz="4200" dirty="0"/>
            </a:br>
            <a:br>
              <a:rPr lang="en-US" sz="4200" dirty="0"/>
            </a:br>
            <a:r>
              <a:rPr lang="en-US" sz="4200" i="1" dirty="0"/>
              <a:t>A growing North Indian hospital network focused on accessible multispecialty and super-specialty healthcare.</a:t>
            </a:r>
            <a:endParaRPr lang="en-US" sz="4200" dirty="0"/>
          </a:p>
          <a:p>
            <a:pPr marL="0" indent="0">
              <a:buNone/>
            </a:pPr>
            <a:br>
              <a:rPr lang="en-US" sz="4200" dirty="0"/>
            </a:br>
            <a:endParaRPr lang="en-US" sz="4200" dirty="0"/>
          </a:p>
          <a:p>
            <a:r>
              <a:rPr lang="en-US" sz="4200" b="1" dirty="0"/>
              <a:t>13. Sankara </a:t>
            </a:r>
            <a:r>
              <a:rPr lang="en-US" sz="4200" b="1" dirty="0" err="1"/>
              <a:t>Nethralaya</a:t>
            </a:r>
            <a:r>
              <a:rPr lang="en-US" sz="4200" b="1" dirty="0"/>
              <a:t> – Chennai</a:t>
            </a:r>
            <a:br>
              <a:rPr lang="en-US" sz="4200" b="1" dirty="0"/>
            </a:br>
            <a:br>
              <a:rPr lang="en-US" sz="4200" b="1" dirty="0"/>
            </a:br>
            <a:r>
              <a:rPr lang="en-US" sz="4200" b="1" dirty="0"/>
              <a:t>Location:</a:t>
            </a:r>
            <a:r>
              <a:rPr lang="en-US" sz="4200" dirty="0"/>
              <a:t> Chennai, Tamil Nadu</a:t>
            </a:r>
            <a:br>
              <a:rPr lang="en-US" sz="4200" dirty="0"/>
            </a:br>
            <a:r>
              <a:rPr lang="en-US" sz="4200" b="1" dirty="0"/>
              <a:t>Primary </a:t>
            </a:r>
            <a:r>
              <a:rPr lang="en-US" sz="4200" b="1" dirty="0" err="1"/>
              <a:t>speciality</a:t>
            </a:r>
            <a:r>
              <a:rPr lang="en-US" sz="4200" b="1" dirty="0"/>
              <a:t>:</a:t>
            </a:r>
            <a:r>
              <a:rPr lang="en-US" sz="4200" dirty="0"/>
              <a:t> Ophthalmology</a:t>
            </a:r>
            <a:br>
              <a:rPr lang="en-US" sz="4200" dirty="0"/>
            </a:br>
            <a:r>
              <a:rPr lang="en-US" sz="4200" dirty="0"/>
              <a:t>Sankara </a:t>
            </a:r>
            <a:r>
              <a:rPr lang="en-US" sz="4200" dirty="0" err="1"/>
              <a:t>Nethralaya</a:t>
            </a:r>
            <a:r>
              <a:rPr lang="en-US" sz="4200" dirty="0"/>
              <a:t> is different from most hospitals on your list because it is a </a:t>
            </a:r>
            <a:r>
              <a:rPr lang="en-US" sz="4200" b="1" dirty="0"/>
              <a:t>specialist eye-care institution rather than a general multispecialty hospital</a:t>
            </a:r>
            <a:r>
              <a:rPr lang="en-US" sz="4200" dirty="0"/>
              <a:t>.</a:t>
            </a:r>
            <a:br>
              <a:rPr lang="en-US" sz="4200" dirty="0"/>
            </a:br>
            <a:r>
              <a:rPr lang="en-US" sz="4200" b="1" dirty="0"/>
              <a:t>Clinical Excellence &amp; Reputation:</a:t>
            </a:r>
            <a:r>
              <a:rPr lang="en-US" sz="4200" dirty="0"/>
              <a:t> Its focus is comprehensive and advanced ophthalmology, making it particularly relevant for patients requiring </a:t>
            </a:r>
            <a:r>
              <a:rPr lang="en-US" sz="4200" b="1" dirty="0"/>
              <a:t>complex retinal, corneal, glaucoma, </a:t>
            </a:r>
            <a:r>
              <a:rPr lang="en-US" sz="4200" b="1" dirty="0" err="1"/>
              <a:t>paediatric</a:t>
            </a:r>
            <a:r>
              <a:rPr lang="en-US" sz="4200" b="1" dirty="0"/>
              <a:t> ophthalmology and other </a:t>
            </a:r>
            <a:r>
              <a:rPr lang="en-US" sz="4200" b="1" dirty="0" err="1"/>
              <a:t>specialised</a:t>
            </a:r>
            <a:r>
              <a:rPr lang="en-US" sz="4200" b="1" dirty="0"/>
              <a:t> eye care</a:t>
            </a:r>
            <a:r>
              <a:rPr lang="en-US" sz="4200" dirty="0"/>
              <a:t>.</a:t>
            </a:r>
            <a:br>
              <a:rPr lang="en-US" sz="4200" dirty="0"/>
            </a:br>
            <a:br>
              <a:rPr lang="en-US" sz="4200" dirty="0"/>
            </a:br>
            <a:r>
              <a:rPr lang="en-US" sz="4200" i="1" dirty="0"/>
              <a:t>A dedicated </a:t>
            </a:r>
            <a:r>
              <a:rPr lang="en-US" sz="4200" i="1" dirty="0" err="1"/>
              <a:t>centre</a:t>
            </a:r>
            <a:r>
              <a:rPr lang="en-US" sz="4200" i="1" dirty="0"/>
              <a:t> for advanced ophthalmic care, particularly suitable for patients requiring </a:t>
            </a:r>
            <a:r>
              <a:rPr lang="en-US" sz="4200" i="1" dirty="0" err="1"/>
              <a:t>specialised</a:t>
            </a:r>
            <a:r>
              <a:rPr lang="en-US" sz="4200" i="1" dirty="0"/>
              <a:t> and complex eye treatment.</a:t>
            </a:r>
            <a:endParaRPr lang="en-US" sz="4200" dirty="0"/>
          </a:p>
          <a:p>
            <a:pPr marL="0" indent="0">
              <a:buNone/>
            </a:pPr>
            <a:br>
              <a:rPr lang="en-US" sz="4200" dirty="0"/>
            </a:br>
            <a:endParaRPr lang="en-US" sz="4200" dirty="0"/>
          </a:p>
          <a:p>
            <a:r>
              <a:rPr lang="en-US" sz="4200" b="1" dirty="0"/>
              <a:t>14. MIOT International – Chennai</a:t>
            </a:r>
            <a:br>
              <a:rPr lang="en-US" sz="4200" b="1" dirty="0"/>
            </a:br>
            <a:br>
              <a:rPr lang="en-US" sz="4200" b="1" dirty="0"/>
            </a:br>
            <a:r>
              <a:rPr lang="en-US" sz="4200" b="1" dirty="0"/>
              <a:t>Established:</a:t>
            </a:r>
            <a:r>
              <a:rPr lang="en-US" sz="4200" dirty="0"/>
              <a:t> 1999</a:t>
            </a:r>
            <a:br>
              <a:rPr lang="en-US" sz="4200" dirty="0"/>
            </a:br>
            <a:r>
              <a:rPr lang="en-US" sz="4200" b="1" dirty="0"/>
              <a:t>Location:</a:t>
            </a:r>
            <a:r>
              <a:rPr lang="en-US" sz="4200" dirty="0"/>
              <a:t> Chennai, Tamil Nadu</a:t>
            </a:r>
            <a:br>
              <a:rPr lang="en-US" sz="4200" dirty="0"/>
            </a:br>
            <a:br>
              <a:rPr lang="en-US" sz="4200" dirty="0"/>
            </a:br>
            <a:r>
              <a:rPr lang="en-US" sz="4200" dirty="0"/>
              <a:t>MIOT opened on </a:t>
            </a:r>
            <a:r>
              <a:rPr lang="en-US" sz="4200" b="1" dirty="0"/>
              <a:t>12 February 1999</a:t>
            </a:r>
            <a:r>
              <a:rPr lang="en-US" sz="4200" dirty="0"/>
              <a:t> as a 70-bed hospital focused on </a:t>
            </a:r>
            <a:r>
              <a:rPr lang="en-US" sz="4200" dirty="0" err="1"/>
              <a:t>orthopaedics</a:t>
            </a:r>
            <a:r>
              <a:rPr lang="en-US" sz="4200" dirty="0"/>
              <a:t> and trauma. It subsequently expanded into cardiac sciences, neurosciences and numerous other medical and surgical specialties. </a:t>
            </a:r>
            <a:br>
              <a:rPr lang="en-US" sz="4200" dirty="0"/>
            </a:br>
            <a:br>
              <a:rPr lang="en-US" sz="4200" dirty="0"/>
            </a:br>
            <a:r>
              <a:rPr lang="en-US" sz="4200" b="1" dirty="0"/>
              <a:t>Clinical Excellence &amp; Reputation:</a:t>
            </a:r>
            <a:r>
              <a:rPr lang="en-US" sz="4200" dirty="0"/>
              <a:t> Its history in </a:t>
            </a:r>
            <a:r>
              <a:rPr lang="en-US" sz="4200" b="1" dirty="0" err="1"/>
              <a:t>orthopaedics</a:t>
            </a:r>
            <a:r>
              <a:rPr lang="en-US" sz="4200" b="1" dirty="0"/>
              <a:t> and trauma</a:t>
            </a:r>
            <a:r>
              <a:rPr lang="en-US" sz="4200" dirty="0"/>
              <a:t> remains an important part of its identity, while its expansion has transformed MIOT into a broader multispecialty institution.</a:t>
            </a:r>
            <a:br>
              <a:rPr lang="en-US" sz="4200" dirty="0"/>
            </a:br>
            <a:br>
              <a:rPr lang="en-US" sz="4200" dirty="0"/>
            </a:br>
            <a:r>
              <a:rPr lang="en-US" sz="4200" i="1" dirty="0"/>
              <a:t>From its origins as a specialist </a:t>
            </a:r>
            <a:r>
              <a:rPr lang="en-US" sz="4200" i="1" dirty="0" err="1"/>
              <a:t>orthopaedic</a:t>
            </a:r>
            <a:r>
              <a:rPr lang="en-US" sz="4200" i="1" dirty="0"/>
              <a:t> and trauma hospital, MIOT has evolved into a major multidisciplinary healthcare destination in Chennai.</a:t>
            </a:r>
            <a:endParaRPr lang="en-US" sz="4200" dirty="0"/>
          </a:p>
          <a:p>
            <a:pPr marL="0" indent="0">
              <a:buNone/>
            </a:pPr>
            <a:br>
              <a:rPr lang="en-US" sz="4200" dirty="0"/>
            </a:br>
            <a:endParaRPr lang="en-US" sz="4200" dirty="0"/>
          </a:p>
          <a:p>
            <a:r>
              <a:rPr lang="en-US" sz="4200" b="1" dirty="0"/>
              <a:t>15. Aster Prime Hospital – Hyderabad</a:t>
            </a:r>
            <a:br>
              <a:rPr lang="en-US" sz="4200" b="1" dirty="0"/>
            </a:br>
            <a:r>
              <a:rPr lang="en-US" sz="4200" b="1" dirty="0"/>
              <a:t>Location:</a:t>
            </a:r>
            <a:r>
              <a:rPr lang="en-US" sz="4200" dirty="0"/>
              <a:t> Ameerpet, Hyderabad, Telangana</a:t>
            </a:r>
            <a:br>
              <a:rPr lang="en-US" sz="4200" dirty="0"/>
            </a:br>
            <a:r>
              <a:rPr lang="en-US" sz="4200" b="1" dirty="0"/>
              <a:t>Capacity:</a:t>
            </a:r>
            <a:r>
              <a:rPr lang="en-US" sz="4200" dirty="0"/>
              <a:t> 204 beds</a:t>
            </a:r>
            <a:br>
              <a:rPr lang="en-US" sz="4200" dirty="0"/>
            </a:br>
            <a:r>
              <a:rPr lang="en-US" sz="4200" dirty="0"/>
              <a:t>Aster Prime is a </a:t>
            </a:r>
            <a:r>
              <a:rPr lang="en-US" sz="4200" b="1" dirty="0"/>
              <a:t>204-bed multispecialty hospital</a:t>
            </a:r>
            <a:r>
              <a:rPr lang="en-US" sz="4200" dirty="0"/>
              <a:t> providing tertiary and quaternary care in Hyderabad. </a:t>
            </a:r>
            <a:br>
              <a:rPr lang="en-US" sz="4200" dirty="0"/>
            </a:br>
            <a:r>
              <a:rPr lang="en-US" sz="4200" b="1" dirty="0"/>
              <a:t>Clinical Excellence &amp; Reputation:</a:t>
            </a:r>
            <a:r>
              <a:rPr lang="en-US" sz="4200" dirty="0"/>
              <a:t> Its </a:t>
            </a:r>
            <a:r>
              <a:rPr lang="en-US" sz="4200" dirty="0" err="1"/>
              <a:t>Centres</a:t>
            </a:r>
            <a:r>
              <a:rPr lang="en-US" sz="4200" dirty="0"/>
              <a:t> of Excellence cover </a:t>
            </a:r>
            <a:r>
              <a:rPr lang="en-US" sz="4200" b="1" dirty="0"/>
              <a:t>cardiac sciences, gastroenterology, </a:t>
            </a:r>
            <a:r>
              <a:rPr lang="en-US" sz="4200" b="1" dirty="0" err="1"/>
              <a:t>orthopaedics</a:t>
            </a:r>
            <a:r>
              <a:rPr lang="en-US" sz="4200" b="1" dirty="0"/>
              <a:t>, oncology, urology, pulmonology, </a:t>
            </a:r>
            <a:r>
              <a:rPr lang="en-US" sz="4200" b="1" dirty="0" err="1"/>
              <a:t>paediatrics</a:t>
            </a:r>
            <a:r>
              <a:rPr lang="en-US" sz="4200" b="1" dirty="0"/>
              <a:t>, neurosciences, nephrology and women's health</a:t>
            </a:r>
            <a:r>
              <a:rPr lang="en-US" sz="4200" dirty="0"/>
              <a:t>. The hospital reports both NABH and NABL accreditation. </a:t>
            </a:r>
            <a:br>
              <a:rPr lang="en-US" sz="4200" dirty="0"/>
            </a:br>
            <a:r>
              <a:rPr lang="en-US" sz="4200" i="1" dirty="0"/>
              <a:t>A modern Hyderabad multispecialty hospital combining advanced technology with comprehensive tertiary and quaternary care.</a:t>
            </a:r>
            <a:endParaRPr lang="en-US" sz="4200" dirty="0"/>
          </a:p>
          <a:p>
            <a:endParaRPr lang="en-US" dirty="0"/>
          </a:p>
        </p:txBody>
      </p:sp>
    </p:spTree>
    <p:extLst>
      <p:ext uri="{BB962C8B-B14F-4D97-AF65-F5344CB8AC3E}">
        <p14:creationId xmlns:p14="http://schemas.microsoft.com/office/powerpoint/2010/main" val="3962819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A3D78-618B-3F5B-4415-82B747C3FA9C}"/>
              </a:ext>
            </a:extLst>
          </p:cNvPr>
          <p:cNvSpPr>
            <a:spLocks noGrp="1"/>
          </p:cNvSpPr>
          <p:nvPr>
            <p:ph type="title"/>
          </p:nvPr>
        </p:nvSpPr>
        <p:spPr/>
        <p:txBody>
          <a:bodyPr/>
          <a:lstStyle/>
          <a:p>
            <a:r>
              <a:rPr lang="en-US" b="1" dirty="0"/>
              <a:t>How It Works</a:t>
            </a:r>
            <a:br>
              <a:rPr lang="en-US" b="1" dirty="0"/>
            </a:br>
            <a:endParaRPr lang="en-US" dirty="0"/>
          </a:p>
        </p:txBody>
      </p:sp>
      <p:sp>
        <p:nvSpPr>
          <p:cNvPr id="3" name="Content Placeholder 2">
            <a:extLst>
              <a:ext uri="{FF2B5EF4-FFF2-40B4-BE49-F238E27FC236}">
                <a16:creationId xmlns:a16="http://schemas.microsoft.com/office/drawing/2014/main" id="{9D1A98F8-54A2-C82A-7C5B-01E976679438}"/>
              </a:ext>
            </a:extLst>
          </p:cNvPr>
          <p:cNvSpPr>
            <a:spLocks noGrp="1"/>
          </p:cNvSpPr>
          <p:nvPr>
            <p:ph idx="1"/>
          </p:nvPr>
        </p:nvSpPr>
        <p:spPr/>
        <p:txBody>
          <a:bodyPr>
            <a:normAutofit fontScale="55000" lnSpcReduction="20000"/>
          </a:bodyPr>
          <a:lstStyle/>
          <a:p>
            <a:pPr marL="0" indent="0">
              <a:buNone/>
            </a:pPr>
            <a:r>
              <a:rPr lang="en-US" b="1" dirty="0"/>
              <a:t>Your Healthcare Journey, Made Simple</a:t>
            </a:r>
            <a:br>
              <a:rPr lang="en-US" b="1" dirty="0"/>
            </a:br>
            <a:r>
              <a:rPr lang="en-US" dirty="0"/>
              <a:t>Seeking medical treatment abroad can feel complicated. </a:t>
            </a:r>
            <a:r>
              <a:rPr lang="en-US" b="1" dirty="0"/>
              <a:t>Medical 360 makes the journey easier by coordinating every step — from your first medical enquiry and specialist consultation to your treatment abroad and your return home.</a:t>
            </a:r>
            <a:endParaRPr lang="en-US" dirty="0"/>
          </a:p>
          <a:p>
            <a:r>
              <a:rPr lang="en-US" b="1" dirty="0"/>
              <a:t>01 — Tell Us About Your Medical Needs</a:t>
            </a:r>
            <a:br>
              <a:rPr lang="en-US" b="1" dirty="0"/>
            </a:br>
            <a:br>
              <a:rPr lang="en-US" b="1" dirty="0"/>
            </a:br>
            <a:r>
              <a:rPr lang="en-US" dirty="0"/>
              <a:t>Contact our team and share your </a:t>
            </a:r>
            <a:r>
              <a:rPr lang="en-US" b="1" dirty="0"/>
              <a:t>medical reports, diagnosis, test results and current treatment information</a:t>
            </a:r>
            <a:r>
              <a:rPr lang="en-US" dirty="0"/>
              <a:t>. A dedicated Patient Navigator will discuss your needs and, when required, arrange a </a:t>
            </a:r>
            <a:r>
              <a:rPr lang="en-US" b="1" dirty="0"/>
              <a:t>video conference with you and your family</a:t>
            </a:r>
            <a:r>
              <a:rPr lang="en-US" dirty="0"/>
              <a:t> to better understand your situation, answer your questions and guide you through the next steps.</a:t>
            </a:r>
          </a:p>
          <a:p>
            <a:r>
              <a:rPr lang="en-US" b="1" dirty="0"/>
              <a:t>02 — Medical Review &amp; Hospital Selection</a:t>
            </a:r>
            <a:br>
              <a:rPr lang="en-US" b="1" dirty="0"/>
            </a:br>
            <a:br>
              <a:rPr lang="en-US" b="1" dirty="0"/>
            </a:br>
            <a:r>
              <a:rPr lang="en-US" dirty="0"/>
              <a:t>Based on your medical condition, treatment requirements and preferences, we help identify </a:t>
            </a:r>
            <a:r>
              <a:rPr lang="en-US" b="1" dirty="0"/>
              <a:t>appropriate hospitals and specialists</a:t>
            </a:r>
            <a:r>
              <a:rPr lang="en-US" dirty="0"/>
              <a:t> within our international healthcare network and securely submit your medical records for specialist review.</a:t>
            </a:r>
          </a:p>
          <a:p>
            <a:r>
              <a:rPr lang="en-US" b="1" dirty="0"/>
              <a:t>03 — Treatment Plan, Estimate &amp; Medical Teleconsultation</a:t>
            </a:r>
            <a:br>
              <a:rPr lang="en-US" b="1" dirty="0"/>
            </a:br>
            <a:br>
              <a:rPr lang="en-US" b="1" dirty="0"/>
            </a:br>
            <a:r>
              <a:rPr lang="en-US" dirty="0"/>
              <a:t>Once your case has been reviewed, you receive the available </a:t>
            </a:r>
            <a:r>
              <a:rPr lang="en-US" b="1" dirty="0"/>
              <a:t>specialist medical opinion, proposed treatment plan and estimated hospital costs</a:t>
            </a:r>
            <a:r>
              <a:rPr lang="en-US" dirty="0"/>
              <a:t>, helping you and your family make an informed decision.</a:t>
            </a:r>
            <a:br>
              <a:rPr lang="en-US" dirty="0"/>
            </a:br>
            <a:br>
              <a:rPr lang="en-US" dirty="0"/>
            </a:br>
            <a:r>
              <a:rPr lang="en-US" dirty="0"/>
              <a:t>When appropriate, Medical 360 can also coordinate a </a:t>
            </a:r>
            <a:r>
              <a:rPr lang="en-US" b="1" dirty="0"/>
              <a:t>video teleconsultation directly with the treating specialist abroad</a:t>
            </a:r>
            <a:r>
              <a:rPr lang="en-US" dirty="0"/>
              <a:t>, giving you the opportunity to discuss your diagnosis, proposed treatment, expected duration of care and other medical questions before travelling.</a:t>
            </a:r>
          </a:p>
          <a:p>
            <a:endParaRPr lang="en-US" dirty="0"/>
          </a:p>
        </p:txBody>
      </p:sp>
    </p:spTree>
    <p:extLst>
      <p:ext uri="{BB962C8B-B14F-4D97-AF65-F5344CB8AC3E}">
        <p14:creationId xmlns:p14="http://schemas.microsoft.com/office/powerpoint/2010/main" val="1415890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957D-C152-B639-4088-B573B290F585}"/>
              </a:ext>
            </a:extLst>
          </p:cNvPr>
          <p:cNvSpPr>
            <a:spLocks noGrp="1"/>
          </p:cNvSpPr>
          <p:nvPr>
            <p:ph type="title"/>
          </p:nvPr>
        </p:nvSpPr>
        <p:spPr/>
        <p:txBody>
          <a:bodyPr/>
          <a:lstStyle/>
          <a:p>
            <a:r>
              <a:rPr lang="en-US" b="1" dirty="0"/>
              <a:t>How It Works</a:t>
            </a:r>
            <a:br>
              <a:rPr lang="en-US" b="1" dirty="0"/>
            </a:br>
            <a:endParaRPr lang="en-US" dirty="0"/>
          </a:p>
        </p:txBody>
      </p:sp>
      <p:sp>
        <p:nvSpPr>
          <p:cNvPr id="3" name="Content Placeholder 2">
            <a:extLst>
              <a:ext uri="{FF2B5EF4-FFF2-40B4-BE49-F238E27FC236}">
                <a16:creationId xmlns:a16="http://schemas.microsoft.com/office/drawing/2014/main" id="{F8A82242-F7A8-9354-5EDB-AAB1CFE28F79}"/>
              </a:ext>
            </a:extLst>
          </p:cNvPr>
          <p:cNvSpPr>
            <a:spLocks noGrp="1"/>
          </p:cNvSpPr>
          <p:nvPr>
            <p:ph idx="1"/>
          </p:nvPr>
        </p:nvSpPr>
        <p:spPr/>
        <p:txBody>
          <a:bodyPr>
            <a:normAutofit fontScale="55000" lnSpcReduction="20000"/>
          </a:bodyPr>
          <a:lstStyle/>
          <a:p>
            <a:r>
              <a:rPr lang="en-US" b="1" dirty="0"/>
              <a:t>04 — We Coordinate Your Journey</a:t>
            </a:r>
            <a:br>
              <a:rPr lang="en-US" b="1" dirty="0"/>
            </a:br>
            <a:br>
              <a:rPr lang="en-US" b="1" dirty="0"/>
            </a:br>
            <a:r>
              <a:rPr lang="en-US" dirty="0"/>
              <a:t>Once you decide to proceed, Medical 360 helps coordinate the practical arrangements surrounding your treatment, including </a:t>
            </a:r>
            <a:r>
              <a:rPr lang="en-US" b="1" dirty="0"/>
              <a:t>hospital appointments and admission, medical visa assistance, flights, accommodation, airport transfers and local transportation</a:t>
            </a:r>
            <a:r>
              <a:rPr lang="en-US" dirty="0"/>
              <a:t>.</a:t>
            </a:r>
            <a:br>
              <a:rPr lang="en-US" dirty="0"/>
            </a:br>
            <a:br>
              <a:rPr lang="en-US" dirty="0"/>
            </a:br>
            <a:r>
              <a:rPr lang="en-US" dirty="0"/>
              <a:t>For patients requiring </a:t>
            </a:r>
            <a:r>
              <a:rPr lang="en-US" dirty="0" err="1"/>
              <a:t>specialised</a:t>
            </a:r>
            <a:r>
              <a:rPr lang="en-US" dirty="0"/>
              <a:t> medical transportation, we can also facilitate </a:t>
            </a:r>
            <a:r>
              <a:rPr lang="en-US" b="1" dirty="0"/>
              <a:t>ground ambulance services, airport medical transfers and private air-ambulance/medical-jet arrangements</a:t>
            </a:r>
            <a:r>
              <a:rPr lang="en-US" dirty="0"/>
              <a:t>, according to the patient's medical condition and subject to medical clearance and availability.</a:t>
            </a:r>
          </a:p>
          <a:p>
            <a:r>
              <a:rPr lang="en-US" b="1" dirty="0"/>
              <a:t>05 — Treatment Abroad</a:t>
            </a:r>
            <a:br>
              <a:rPr lang="en-US" b="1" dirty="0"/>
            </a:br>
            <a:br>
              <a:rPr lang="en-US" b="1" dirty="0"/>
            </a:br>
            <a:r>
              <a:rPr lang="en-US" dirty="0"/>
              <a:t>Upon arrival, our team and local partners help facilitate your journey from </a:t>
            </a:r>
            <a:r>
              <a:rPr lang="en-US" b="1" dirty="0"/>
              <a:t>airport arrival and hospital admission through treatment and discharge</a:t>
            </a:r>
            <a:r>
              <a:rPr lang="en-US" dirty="0"/>
              <a:t>. We remain available throughout your stay to support you and your accompanying family member and to facilitate communication with the hospital when required.</a:t>
            </a:r>
          </a:p>
          <a:p>
            <a:r>
              <a:rPr lang="en-US" b="1" dirty="0"/>
              <a:t>06 — Return Home &amp; Follow-Up</a:t>
            </a:r>
            <a:br>
              <a:rPr lang="en-US" b="1" dirty="0"/>
            </a:br>
            <a:br>
              <a:rPr lang="en-US" b="1" dirty="0"/>
            </a:br>
            <a:r>
              <a:rPr lang="en-US" dirty="0"/>
              <a:t>Our support doesn't end when treatment is completed. We help coordinate </a:t>
            </a:r>
            <a:r>
              <a:rPr lang="en-US" b="1" dirty="0"/>
              <a:t>medical reports, follow-up consultations, video teleconsultations and communication with your treating specialists abroad</a:t>
            </a:r>
            <a:r>
              <a:rPr lang="en-US" dirty="0"/>
              <a:t>, supporting continuity of care after you return home.</a:t>
            </a:r>
            <a:br>
              <a:rPr lang="en-US" dirty="0"/>
            </a:br>
            <a:br>
              <a:rPr lang="en-US" dirty="0"/>
            </a:br>
            <a:br>
              <a:rPr lang="en-US" dirty="0"/>
            </a:br>
            <a:r>
              <a:rPr lang="en-US" b="1" dirty="0"/>
              <a:t>From Mauritius to Your Treatment — We're With You Every Step of the Way.</a:t>
            </a:r>
            <a:br>
              <a:rPr lang="en-US" b="1" dirty="0"/>
            </a:br>
            <a:r>
              <a:rPr lang="en-US" b="1" dirty="0"/>
              <a:t>One point of contact. One coordinated journey. Access to world-class healthcare.</a:t>
            </a:r>
            <a:endParaRPr lang="en-US" dirty="0"/>
          </a:p>
          <a:p>
            <a:endParaRPr lang="en-US" dirty="0"/>
          </a:p>
        </p:txBody>
      </p:sp>
    </p:spTree>
    <p:extLst>
      <p:ext uri="{BB962C8B-B14F-4D97-AF65-F5344CB8AC3E}">
        <p14:creationId xmlns:p14="http://schemas.microsoft.com/office/powerpoint/2010/main" val="2738196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575AB-66B4-FE4A-0FCD-1F920A7DF11B}"/>
              </a:ext>
            </a:extLst>
          </p:cNvPr>
          <p:cNvSpPr>
            <a:spLocks noGrp="1"/>
          </p:cNvSpPr>
          <p:nvPr>
            <p:ph type="title"/>
          </p:nvPr>
        </p:nvSpPr>
        <p:spPr/>
        <p:txBody>
          <a:bodyPr/>
          <a:lstStyle/>
          <a:p>
            <a:r>
              <a:rPr lang="en-US" b="1" dirty="0"/>
              <a:t>Our Story</a:t>
            </a:r>
            <a:br>
              <a:rPr lang="en-US" b="1" dirty="0"/>
            </a:br>
            <a:endParaRPr lang="en-US" dirty="0"/>
          </a:p>
        </p:txBody>
      </p:sp>
      <p:sp>
        <p:nvSpPr>
          <p:cNvPr id="3" name="Content Placeholder 2">
            <a:extLst>
              <a:ext uri="{FF2B5EF4-FFF2-40B4-BE49-F238E27FC236}">
                <a16:creationId xmlns:a16="http://schemas.microsoft.com/office/drawing/2014/main" id="{046F55E2-3A39-F01B-4AC3-9D28DC9F6F7C}"/>
              </a:ext>
            </a:extLst>
          </p:cNvPr>
          <p:cNvSpPr>
            <a:spLocks noGrp="1"/>
          </p:cNvSpPr>
          <p:nvPr>
            <p:ph idx="1"/>
          </p:nvPr>
        </p:nvSpPr>
        <p:spPr/>
        <p:txBody>
          <a:bodyPr>
            <a:normAutofit fontScale="40000" lnSpcReduction="20000"/>
          </a:bodyPr>
          <a:lstStyle/>
          <a:p>
            <a:pPr marL="0" indent="0">
              <a:buNone/>
            </a:pPr>
            <a:r>
              <a:rPr lang="en-US" b="1" dirty="0"/>
              <a:t>Born From a Decade of Compassion. Built Around the Patient.</a:t>
            </a:r>
          </a:p>
          <a:p>
            <a:pPr marL="0" indent="0">
              <a:buNone/>
            </a:pPr>
            <a:r>
              <a:rPr lang="en-US" b="1" dirty="0"/>
              <a:t>Medical 360 Ltd is a social enterprise initiative of Enn Rev Enn </a:t>
            </a:r>
            <a:r>
              <a:rPr lang="en-US" b="1" dirty="0" err="1"/>
              <a:t>Sourir</a:t>
            </a:r>
            <a:r>
              <a:rPr lang="en-US" dirty="0"/>
              <a:t>, created from years of experience supporting patients and families through some of the most difficult moments of their lives.</a:t>
            </a:r>
          </a:p>
          <a:p>
            <a:pPr marL="0" indent="0">
              <a:buNone/>
            </a:pPr>
            <a:r>
              <a:rPr lang="en-US" dirty="0"/>
              <a:t>Since its establishment in 2016, Enn Rev Enn Sourir has worked to ensure that access to </a:t>
            </a:r>
            <a:r>
              <a:rPr lang="en-US" dirty="0" err="1"/>
              <a:t>specialised</a:t>
            </a:r>
            <a:r>
              <a:rPr lang="en-US" dirty="0"/>
              <a:t> healthcare is not determined by a family's financial circumstances. The </a:t>
            </a:r>
            <a:r>
              <a:rPr lang="en-US" dirty="0" err="1"/>
              <a:t>organisation</a:t>
            </a:r>
            <a:r>
              <a:rPr lang="en-US" dirty="0"/>
              <a:t> has supported children and adults requiring </a:t>
            </a:r>
            <a:r>
              <a:rPr lang="en-US" dirty="0" err="1"/>
              <a:t>specialised</a:t>
            </a:r>
            <a:r>
              <a:rPr lang="en-US" dirty="0"/>
              <a:t> medical care in Mauritius and abroad, including medical coordination, treatment access, financial assistance, travel arrangements and psychosocial support. This patient-</a:t>
            </a:r>
            <a:r>
              <a:rPr lang="en-US" dirty="0" err="1"/>
              <a:t>centred</a:t>
            </a:r>
            <a:r>
              <a:rPr lang="en-US" dirty="0"/>
              <a:t> mission is also reflected in the NGO's public and international profiles. (</a:t>
            </a:r>
            <a:r>
              <a:rPr lang="en-US" dirty="0">
                <a:hlinkClick r:id="rId2" tooltip="Enn Rev Enn Sourir | UICC"/>
              </a:rPr>
              <a:t>UICC</a:t>
            </a:r>
            <a:r>
              <a:rPr lang="en-US" dirty="0"/>
              <a:t>)</a:t>
            </a:r>
          </a:p>
          <a:p>
            <a:pPr marL="0" indent="0">
              <a:buNone/>
            </a:pPr>
            <a:r>
              <a:rPr lang="en-US" b="1" dirty="0"/>
              <a:t>From Charity to Social Entrepreneurship</a:t>
            </a:r>
          </a:p>
          <a:p>
            <a:pPr marL="0" indent="0">
              <a:buNone/>
            </a:pPr>
            <a:r>
              <a:rPr lang="en-US" dirty="0"/>
              <a:t>After years of primarily supporting </a:t>
            </a:r>
            <a:r>
              <a:rPr lang="en-US" b="1" dirty="0"/>
              <a:t>low- and middle-income families and vulnerable patients</a:t>
            </a:r>
            <a:r>
              <a:rPr lang="en-US" dirty="0"/>
              <a:t>, we </a:t>
            </a:r>
            <a:r>
              <a:rPr lang="en-US" dirty="0" err="1"/>
              <a:t>recognised</a:t>
            </a:r>
            <a:r>
              <a:rPr lang="en-US" dirty="0"/>
              <a:t> that the same experience, international hospital relationships and patient-navigation expertise could serve a wider group of Mauritians.</a:t>
            </a:r>
          </a:p>
          <a:p>
            <a:pPr marL="0" indent="0">
              <a:buNone/>
            </a:pPr>
            <a:r>
              <a:rPr lang="en-US" dirty="0"/>
              <a:t>In </a:t>
            </a:r>
            <a:r>
              <a:rPr lang="en-US" b="1" dirty="0"/>
              <a:t>2025, the idea of Medical 360 was born</a:t>
            </a:r>
            <a:r>
              <a:rPr lang="en-US" dirty="0"/>
              <a:t>: to create an ethical medical-services company capable of assisting </a:t>
            </a:r>
            <a:r>
              <a:rPr lang="en-US" b="1" dirty="0"/>
              <a:t>self-paying patients, insured patients and families seeking </a:t>
            </a:r>
            <a:r>
              <a:rPr lang="en-US" b="1" dirty="0" err="1"/>
              <a:t>specialised</a:t>
            </a:r>
            <a:r>
              <a:rPr lang="en-US" b="1" dirty="0"/>
              <a:t> treatment abroad</a:t>
            </a:r>
            <a:r>
              <a:rPr lang="en-US" dirty="0"/>
              <a:t>, while creating a sustainable source of revenue to support patients who cannot afford the treatment they need.</a:t>
            </a:r>
          </a:p>
          <a:p>
            <a:pPr marL="0" indent="0">
              <a:buNone/>
            </a:pPr>
            <a:r>
              <a:rPr lang="en-US" dirty="0"/>
              <a:t>This creates a simple social-impact model:</a:t>
            </a:r>
          </a:p>
          <a:p>
            <a:pPr marL="0" indent="0">
              <a:buNone/>
            </a:pPr>
            <a:r>
              <a:rPr lang="en-US" b="1" dirty="0"/>
              <a:t>Patients who can afford their healthcare receive professional, </a:t>
            </a:r>
            <a:r>
              <a:rPr lang="en-US" b="1" dirty="0" err="1"/>
              <a:t>personalised</a:t>
            </a:r>
            <a:r>
              <a:rPr lang="en-US" b="1" dirty="0"/>
              <a:t> medical coordination → Medical 360 generates sustainable revenue → that revenue contributes to the social mission of Enn Rev Enn Sourir and helps support vulnerable patients.</a:t>
            </a:r>
            <a:endParaRPr lang="en-US" dirty="0"/>
          </a:p>
          <a:p>
            <a:pPr marL="0" indent="0">
              <a:buNone/>
            </a:pPr>
            <a:r>
              <a:rPr lang="en-US" b="1" dirty="0"/>
              <a:t>Why Medical 360 Was Needed</a:t>
            </a:r>
          </a:p>
          <a:p>
            <a:pPr marL="0" indent="0">
              <a:buNone/>
            </a:pPr>
            <a:r>
              <a:rPr lang="en-US" dirty="0"/>
              <a:t>Over the years, we have also witnessed the rapid development of the medical facilitation and treatment-abroad sector. For a patient facing a serious diagnosis, choosing a hospital or treatment should never be driven by hidden interests, unnecessary costs or commercial pressure.</a:t>
            </a:r>
          </a:p>
          <a:p>
            <a:pPr marL="0" indent="0">
              <a:buNone/>
            </a:pPr>
            <a:r>
              <a:rPr lang="en-US" dirty="0"/>
              <a:t>This reinforced our belief that Mauritius needed a model where </a:t>
            </a:r>
            <a:r>
              <a:rPr lang="en-US" b="1" dirty="0"/>
              <a:t>ethics, transparency, informed choice, patient rights and dignity come before commercial interests.</a:t>
            </a:r>
            <a:endParaRPr lang="en-US" dirty="0"/>
          </a:p>
          <a:p>
            <a:pPr marL="0" indent="0">
              <a:buNone/>
            </a:pPr>
            <a:r>
              <a:rPr lang="en-US" dirty="0"/>
              <a:t>Medical 360 was therefore created not simply as another medical facilitation company, but as an extension of the values developed through years of humanitarian work by Enn Rev Enn </a:t>
            </a:r>
            <a:r>
              <a:rPr lang="en-US" dirty="0" err="1"/>
              <a:t>Sourir</a:t>
            </a:r>
            <a:r>
              <a:rPr lang="en-US" dirty="0"/>
              <a:t>.</a:t>
            </a:r>
          </a:p>
          <a:p>
            <a:pPr marL="0" indent="0">
              <a:buNone/>
            </a:pPr>
            <a:r>
              <a:rPr lang="en-US" dirty="0"/>
              <a:t>We believe patients deserve to understand </a:t>
            </a:r>
            <a:r>
              <a:rPr lang="en-US" b="1" dirty="0"/>
              <a:t>where they are being referred, why a particular hospital or specialist is being proposed, what their treatment may involve and what the expected costs are</a:t>
            </a:r>
            <a:r>
              <a:rPr lang="en-US" dirty="0"/>
              <a:t> before making an informed decision.</a:t>
            </a:r>
          </a:p>
          <a:p>
            <a:pPr marL="0" indent="0">
              <a:buNone/>
            </a:pPr>
            <a:endParaRPr lang="en-US" dirty="0"/>
          </a:p>
        </p:txBody>
      </p:sp>
    </p:spTree>
    <p:extLst>
      <p:ext uri="{BB962C8B-B14F-4D97-AF65-F5344CB8AC3E}">
        <p14:creationId xmlns:p14="http://schemas.microsoft.com/office/powerpoint/2010/main" val="3191065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199548-7077-84FA-6033-D4960D5D599C}"/>
              </a:ext>
            </a:extLst>
          </p:cNvPr>
          <p:cNvSpPr>
            <a:spLocks noGrp="1"/>
          </p:cNvSpPr>
          <p:nvPr>
            <p:ph idx="1"/>
          </p:nvPr>
        </p:nvSpPr>
        <p:spPr>
          <a:xfrm>
            <a:off x="838200" y="1139825"/>
            <a:ext cx="10515600" cy="4351338"/>
          </a:xfrm>
        </p:spPr>
        <p:txBody>
          <a:bodyPr>
            <a:normAutofit fontScale="40000" lnSpcReduction="20000"/>
          </a:bodyPr>
          <a:lstStyle/>
          <a:p>
            <a:pPr marL="0" indent="0">
              <a:buNone/>
            </a:pPr>
            <a:r>
              <a:rPr lang="en-US" b="1" dirty="0"/>
              <a:t>No Dividends. Your Healthcare Matters.</a:t>
            </a:r>
          </a:p>
          <a:p>
            <a:pPr marL="0" indent="0">
              <a:buNone/>
            </a:pPr>
            <a:r>
              <a:rPr lang="en-US" dirty="0"/>
              <a:t>Medical 360 follows a different philosophy.</a:t>
            </a:r>
          </a:p>
          <a:p>
            <a:pPr marL="0" indent="0">
              <a:buNone/>
            </a:pPr>
            <a:r>
              <a:rPr lang="en-US" b="1" dirty="0"/>
              <a:t>Our purpose is not to create dividends for individual shareholders. Our purpose is to create impact.</a:t>
            </a:r>
            <a:endParaRPr lang="en-US" dirty="0"/>
          </a:p>
          <a:p>
            <a:pPr marL="0" indent="0">
              <a:buNone/>
            </a:pPr>
            <a:r>
              <a:rPr lang="en-US" dirty="0"/>
              <a:t>By developing a sustainable healthcare enterprise, we aim to serve patients who can finance their treatment or are supported by insurance, while helping strengthen the ability of Enn Rev Enn </a:t>
            </a:r>
            <a:r>
              <a:rPr lang="en-US" dirty="0" err="1"/>
              <a:t>Sourir</a:t>
            </a:r>
            <a:r>
              <a:rPr lang="en-US" dirty="0"/>
              <a:t> to continue assisting people for whom the cost of healthcare remains a barrier.</a:t>
            </a:r>
          </a:p>
          <a:p>
            <a:pPr marL="0" indent="0">
              <a:buNone/>
            </a:pPr>
            <a:r>
              <a:rPr lang="en-US" b="1" dirty="0"/>
              <a:t>Your healthcare journey creates an opportunity to support another healthcare journey.</a:t>
            </a:r>
            <a:endParaRPr lang="en-US" dirty="0"/>
          </a:p>
          <a:p>
            <a:pPr marL="0" indent="0">
              <a:buNone/>
            </a:pPr>
            <a:r>
              <a:rPr lang="en-US" b="1" dirty="0"/>
              <a:t>Built on International Recognition</a:t>
            </a:r>
          </a:p>
          <a:p>
            <a:pPr marL="0" indent="0">
              <a:buNone/>
            </a:pPr>
            <a:r>
              <a:rPr lang="en-US" dirty="0"/>
              <a:t>The foundation behind Medical 360 is strengthened by Enn Rev Enn Sourir's involvement with respected international </a:t>
            </a:r>
            <a:r>
              <a:rPr lang="en-US" dirty="0" err="1"/>
              <a:t>organisations</a:t>
            </a:r>
            <a:r>
              <a:rPr lang="en-US" dirty="0"/>
              <a:t> in cancer and </a:t>
            </a:r>
            <a:r>
              <a:rPr lang="en-US" dirty="0" err="1"/>
              <a:t>paediatric</a:t>
            </a:r>
            <a:r>
              <a:rPr lang="en-US" dirty="0"/>
              <a:t> oncology.</a:t>
            </a:r>
          </a:p>
          <a:p>
            <a:pPr marL="0" indent="0">
              <a:buNone/>
            </a:pPr>
            <a:r>
              <a:rPr lang="en-US" dirty="0"/>
              <a:t>Enn Rev Enn </a:t>
            </a:r>
            <a:r>
              <a:rPr lang="en-US" dirty="0" err="1"/>
              <a:t>Sourir</a:t>
            </a:r>
            <a:r>
              <a:rPr lang="en-US" dirty="0"/>
              <a:t> is currently listed as a </a:t>
            </a:r>
            <a:r>
              <a:rPr lang="en-US" b="1" dirty="0"/>
              <a:t>Full Member of the Union for International Cancer Control (UICC)</a:t>
            </a:r>
            <a:r>
              <a:rPr lang="en-US" dirty="0"/>
              <a:t>, while its own </a:t>
            </a:r>
            <a:r>
              <a:rPr lang="en-US" dirty="0" err="1"/>
              <a:t>organisational</a:t>
            </a:r>
            <a:r>
              <a:rPr lang="en-US" dirty="0"/>
              <a:t> information documents collaboration with the </a:t>
            </a:r>
            <a:r>
              <a:rPr lang="en-US" b="1" dirty="0"/>
              <a:t>International Society of </a:t>
            </a:r>
            <a:r>
              <a:rPr lang="en-US" b="1" dirty="0" err="1"/>
              <a:t>Paediatric</a:t>
            </a:r>
            <a:r>
              <a:rPr lang="en-US" b="1" dirty="0"/>
              <a:t> Oncology (SIOP)</a:t>
            </a:r>
            <a:r>
              <a:rPr lang="en-US" dirty="0"/>
              <a:t> and </a:t>
            </a:r>
            <a:r>
              <a:rPr lang="en-US" b="1" dirty="0"/>
              <a:t>Childhood Cancer International (CCI)</a:t>
            </a:r>
            <a:r>
              <a:rPr lang="en-US" dirty="0"/>
              <a:t>. CCI has also publicly profiled Enn Rev Enn </a:t>
            </a:r>
            <a:r>
              <a:rPr lang="en-US" dirty="0" err="1"/>
              <a:t>Sourir</a:t>
            </a:r>
            <a:r>
              <a:rPr lang="en-US" dirty="0"/>
              <a:t> and its work in Mauritius. (</a:t>
            </a:r>
            <a:r>
              <a:rPr lang="en-US" dirty="0">
                <a:hlinkClick r:id="rId2" tooltip="Enn Rev Enn Sourir | UICC"/>
              </a:rPr>
              <a:t>UICC</a:t>
            </a:r>
            <a:r>
              <a:rPr lang="en-US" dirty="0"/>
              <a:t>)</a:t>
            </a:r>
          </a:p>
          <a:p>
            <a:pPr marL="0" indent="0">
              <a:buNone/>
            </a:pPr>
            <a:r>
              <a:rPr lang="en-US" dirty="0"/>
              <a:t>These relationships reinforce the principles that guide us: </a:t>
            </a:r>
            <a:r>
              <a:rPr lang="en-US" b="1" dirty="0"/>
              <a:t>ethical practice, patient-</a:t>
            </a:r>
            <a:r>
              <a:rPr lang="en-US" b="1" dirty="0" err="1"/>
              <a:t>centred</a:t>
            </a:r>
            <a:r>
              <a:rPr lang="en-US" b="1" dirty="0"/>
              <a:t> care, collaboration, dignity and equitable access to healthcare.</a:t>
            </a:r>
            <a:endParaRPr lang="en-US" dirty="0"/>
          </a:p>
          <a:p>
            <a:pPr marL="0" indent="0">
              <a:buNone/>
            </a:pPr>
            <a:r>
              <a:rPr lang="en-US" b="1" dirty="0"/>
              <a:t>Healthcare With Purpose</a:t>
            </a:r>
          </a:p>
          <a:p>
            <a:pPr marL="0" indent="0">
              <a:buNone/>
            </a:pPr>
            <a:r>
              <a:rPr lang="en-US" dirty="0"/>
              <a:t>Medical 360 represents the next chapter of a journey that began with a simple belief:</a:t>
            </a:r>
          </a:p>
          <a:p>
            <a:pPr marL="0" indent="0">
              <a:buNone/>
            </a:pPr>
            <a:r>
              <a:rPr lang="en-US" b="1" dirty="0"/>
              <a:t>Quality healthcare should never be a privilege reserved only for those who can afford it.</a:t>
            </a:r>
            <a:endParaRPr lang="en-US" dirty="0"/>
          </a:p>
          <a:p>
            <a:pPr marL="0" indent="0">
              <a:buNone/>
            </a:pPr>
            <a:r>
              <a:rPr lang="en-US" dirty="0"/>
              <a:t>Today, we are building a model where </a:t>
            </a:r>
            <a:r>
              <a:rPr lang="en-US" b="1" dirty="0"/>
              <a:t>healthcare and social impact work together</a:t>
            </a:r>
            <a:r>
              <a:rPr lang="en-US" dirty="0"/>
              <a:t> — connecting patients to </a:t>
            </a:r>
            <a:r>
              <a:rPr lang="en-US" dirty="0" err="1"/>
              <a:t>specialised</a:t>
            </a:r>
            <a:r>
              <a:rPr lang="en-US" dirty="0"/>
              <a:t> care while creating resources that can help another patient who may otherwise be left behind.</a:t>
            </a:r>
          </a:p>
          <a:p>
            <a:pPr marL="0" indent="0">
              <a:buNone/>
            </a:pPr>
            <a:r>
              <a:rPr lang="en-US" b="1" dirty="0"/>
              <a:t>Medical 360 — Your Health. Our Mission. A Greater Purpose.</a:t>
            </a:r>
          </a:p>
          <a:p>
            <a:pPr marL="0" indent="0">
              <a:buNone/>
            </a:pPr>
            <a:r>
              <a:rPr lang="en-US" b="1" dirty="0"/>
              <a:t>No dividends. No compromise on dignity. Patient first. Always.</a:t>
            </a:r>
            <a:endParaRPr lang="en-US" dirty="0"/>
          </a:p>
          <a:p>
            <a:endParaRPr lang="en-US" dirty="0"/>
          </a:p>
        </p:txBody>
      </p:sp>
    </p:spTree>
    <p:extLst>
      <p:ext uri="{BB962C8B-B14F-4D97-AF65-F5344CB8AC3E}">
        <p14:creationId xmlns:p14="http://schemas.microsoft.com/office/powerpoint/2010/main" val="2608209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9DF33-68C4-A159-01FA-8EAE8BF25A9A}"/>
              </a:ext>
            </a:extLst>
          </p:cNvPr>
          <p:cNvSpPr>
            <a:spLocks noGrp="1"/>
          </p:cNvSpPr>
          <p:nvPr>
            <p:ph type="title"/>
          </p:nvPr>
        </p:nvSpPr>
        <p:spPr/>
        <p:txBody>
          <a:bodyPr/>
          <a:lstStyle/>
          <a:p>
            <a:r>
              <a:rPr lang="en-US" b="1" dirty="0"/>
              <a:t>Contact Us</a:t>
            </a:r>
            <a:br>
              <a:rPr lang="en-US" b="1" dirty="0"/>
            </a:br>
            <a:endParaRPr lang="en-US" dirty="0"/>
          </a:p>
        </p:txBody>
      </p:sp>
      <p:sp>
        <p:nvSpPr>
          <p:cNvPr id="3" name="Content Placeholder 2">
            <a:extLst>
              <a:ext uri="{FF2B5EF4-FFF2-40B4-BE49-F238E27FC236}">
                <a16:creationId xmlns:a16="http://schemas.microsoft.com/office/drawing/2014/main" id="{9CCF05A2-34FB-CEE4-E2BF-4BC55FAD9902}"/>
              </a:ext>
            </a:extLst>
          </p:cNvPr>
          <p:cNvSpPr>
            <a:spLocks noGrp="1"/>
          </p:cNvSpPr>
          <p:nvPr>
            <p:ph idx="1"/>
          </p:nvPr>
        </p:nvSpPr>
        <p:spPr>
          <a:xfrm>
            <a:off x="838200" y="1344362"/>
            <a:ext cx="10515600" cy="4351338"/>
          </a:xfrm>
        </p:spPr>
        <p:txBody>
          <a:bodyPr>
            <a:normAutofit fontScale="25000" lnSpcReduction="20000"/>
          </a:bodyPr>
          <a:lstStyle/>
          <a:p>
            <a:pPr marL="0" indent="0">
              <a:buNone/>
            </a:pPr>
            <a:r>
              <a:rPr lang="en-US" sz="4400" b="1" dirty="0"/>
              <a:t>When Your Health Can’t Wait, Neither Should You.</a:t>
            </a:r>
          </a:p>
          <a:p>
            <a:pPr marL="0" indent="0">
              <a:buNone/>
            </a:pPr>
            <a:r>
              <a:rPr lang="en-US" sz="4400" dirty="0"/>
              <a:t>Facing a diagnosis or considering treatment abroad can bring many questions. </a:t>
            </a:r>
            <a:r>
              <a:rPr lang="en-US" sz="4400" b="1" dirty="0"/>
              <a:t>You don't have to navigate the journey alone.</a:t>
            </a:r>
            <a:endParaRPr lang="en-US" sz="4400" dirty="0"/>
          </a:p>
          <a:p>
            <a:pPr marL="0" indent="0">
              <a:buNone/>
            </a:pPr>
            <a:r>
              <a:rPr lang="en-US" sz="4400" dirty="0"/>
              <a:t>Whether you are looking for a </a:t>
            </a:r>
            <a:r>
              <a:rPr lang="en-US" sz="4400" b="1" dirty="0"/>
              <a:t>second medical opinion, specialist consultation, treatment abroad, hospital recommendation or complete medical travel assistance</a:t>
            </a:r>
            <a:r>
              <a:rPr lang="en-US" sz="4400" dirty="0"/>
              <a:t>, the Medical 360 team is ready to listen, understand your needs and guide you towards the next step.</a:t>
            </a:r>
          </a:p>
          <a:p>
            <a:pPr marL="0" indent="0">
              <a:buNone/>
            </a:pPr>
            <a:r>
              <a:rPr lang="en-US" sz="4400" b="1" dirty="0"/>
              <a:t>Speak to a Patient Navigator today and take the first step towards the care you need.</a:t>
            </a:r>
            <a:endParaRPr lang="en-US" sz="4400" dirty="0"/>
          </a:p>
          <a:p>
            <a:pPr marL="0" indent="0">
              <a:buNone/>
            </a:pPr>
            <a:r>
              <a:rPr lang="en-US" sz="4400" b="1" dirty="0"/>
              <a:t>Get in Touch</a:t>
            </a:r>
          </a:p>
          <a:p>
            <a:pPr marL="0" indent="0">
              <a:buNone/>
            </a:pPr>
            <a:r>
              <a:rPr lang="en-US" sz="4400" b="1" dirty="0"/>
              <a:t>📱 WhatsApp &amp; Phone</a:t>
            </a:r>
            <a:br>
              <a:rPr lang="en-US" sz="4400" dirty="0"/>
            </a:br>
            <a:r>
              <a:rPr lang="en-US" sz="4400" dirty="0"/>
              <a:t>+230 5918 8275</a:t>
            </a:r>
          </a:p>
          <a:p>
            <a:pPr marL="0" indent="0">
              <a:buNone/>
            </a:pPr>
            <a:r>
              <a:rPr lang="en-US" sz="4400" b="1" dirty="0"/>
              <a:t>✉️ Email</a:t>
            </a:r>
            <a:br>
              <a:rPr lang="en-US" sz="4400" dirty="0"/>
            </a:br>
            <a:r>
              <a:rPr lang="en-US" sz="4400" dirty="0">
                <a:hlinkClick r:id="rId2"/>
              </a:rPr>
              <a:t>info@med360.mu</a:t>
            </a:r>
            <a:endParaRPr lang="en-US" sz="4400" dirty="0"/>
          </a:p>
          <a:p>
            <a:pPr marL="0" indent="0">
              <a:buNone/>
            </a:pPr>
            <a:r>
              <a:rPr lang="en-US" sz="4400" b="1" dirty="0"/>
              <a:t>📍 Visit Our Office</a:t>
            </a:r>
            <a:br>
              <a:rPr lang="en-US" sz="4400" dirty="0"/>
            </a:br>
            <a:r>
              <a:rPr lang="en-US" sz="4400" dirty="0"/>
              <a:t>Medical 360 Ltd</a:t>
            </a:r>
            <a:br>
              <a:rPr lang="en-US" sz="4400" dirty="0"/>
            </a:br>
            <a:r>
              <a:rPr lang="en-US" sz="4400" dirty="0" err="1"/>
              <a:t>Sedeco</a:t>
            </a:r>
            <a:r>
              <a:rPr lang="en-US" sz="4400" dirty="0"/>
              <a:t> Ltée, 4ème étage, IKS Building</a:t>
            </a:r>
            <a:br>
              <a:rPr lang="en-US" sz="4400" dirty="0"/>
            </a:br>
            <a:r>
              <a:rPr lang="en-US" sz="4400" dirty="0" err="1"/>
              <a:t>Cnr</a:t>
            </a:r>
            <a:r>
              <a:rPr lang="en-US" sz="4400" dirty="0"/>
              <a:t> R. Seeneevassen &amp; Farquhar Streets</a:t>
            </a:r>
            <a:br>
              <a:rPr lang="en-US" sz="4400" dirty="0"/>
            </a:br>
            <a:r>
              <a:rPr lang="en-US" sz="4400" dirty="0"/>
              <a:t>Port-Louis 11613, Mauritius</a:t>
            </a:r>
          </a:p>
          <a:p>
            <a:pPr marL="0" indent="0">
              <a:buNone/>
            </a:pPr>
            <a:r>
              <a:rPr lang="en-US" sz="4400" b="1" dirty="0"/>
              <a:t>Your Health Deserves Action, Not Uncertainty.</a:t>
            </a:r>
          </a:p>
          <a:p>
            <a:pPr marL="0" indent="0">
              <a:buNone/>
            </a:pPr>
            <a:r>
              <a:rPr lang="en-US" sz="4400" b="1" dirty="0"/>
              <a:t>Book your appointment today. Let us help you understand your options and connect you with the right medical care.</a:t>
            </a:r>
            <a:endParaRPr lang="en-US" sz="4400" dirty="0"/>
          </a:p>
          <a:p>
            <a:pPr marL="0" indent="0">
              <a:buNone/>
            </a:pPr>
            <a:r>
              <a:rPr lang="en-US" sz="4400" dirty="0"/>
              <a:t>For the main website button, I recommend:</a:t>
            </a:r>
          </a:p>
          <a:p>
            <a:pPr marL="0" indent="0">
              <a:buNone/>
            </a:pPr>
            <a:r>
              <a:rPr lang="en-US" sz="4400" b="1" dirty="0"/>
              <a:t>BOOK YOUR MEDICAL CONSULTATION</a:t>
            </a:r>
          </a:p>
          <a:p>
            <a:pPr marL="0" indent="0">
              <a:buNone/>
            </a:pPr>
            <a:r>
              <a:rPr lang="en-US" sz="4400" dirty="0"/>
              <a:t>And beside it, a second button:</a:t>
            </a:r>
          </a:p>
          <a:p>
            <a:pPr marL="0" indent="0">
              <a:buNone/>
            </a:pPr>
            <a:r>
              <a:rPr lang="en-US" sz="4400" b="1" dirty="0"/>
              <a:t>CHAT WITH US ON WHATSAPP</a:t>
            </a:r>
            <a:endParaRPr lang="en-US" sz="4400" dirty="0"/>
          </a:p>
          <a:p>
            <a:pPr marL="0" indent="0">
              <a:buNone/>
            </a:pPr>
            <a:r>
              <a:rPr lang="en-US" sz="4400" dirty="0"/>
              <a:t>A strong short line immediately above the buttons could be:</a:t>
            </a:r>
          </a:p>
          <a:p>
            <a:pPr marL="0" indent="0">
              <a:buNone/>
            </a:pPr>
            <a:r>
              <a:rPr lang="en-US" sz="4400" b="1" dirty="0"/>
              <a:t>One conversation could change the direction of your healthcare journey. Start yours today.</a:t>
            </a:r>
            <a:endParaRPr lang="en-US" sz="4400" dirty="0"/>
          </a:p>
          <a:p>
            <a:endParaRPr lang="en-US" dirty="0"/>
          </a:p>
        </p:txBody>
      </p:sp>
    </p:spTree>
    <p:extLst>
      <p:ext uri="{BB962C8B-B14F-4D97-AF65-F5344CB8AC3E}">
        <p14:creationId xmlns:p14="http://schemas.microsoft.com/office/powerpoint/2010/main" val="2684013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D7D3C-E679-E0B6-46AB-80D1C00E26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2361FF-F17E-0FC6-2B5E-D8AE19BB29C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7463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TotalTime>
  <Words>4038</Words>
  <Application>Microsoft Macintosh PowerPoint</Application>
  <PresentationFormat>Widescreen</PresentationFormat>
  <Paragraphs>178</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Med360 ltd</vt:lpstr>
      <vt:lpstr>PowerPoint Presentation</vt:lpstr>
      <vt:lpstr>PowerPoint Presentation</vt:lpstr>
      <vt:lpstr>Specialties</vt:lpstr>
      <vt:lpstr>Specialties</vt:lpstr>
      <vt:lpstr>Specialties</vt:lpstr>
      <vt:lpstr>Surgeons</vt:lpstr>
      <vt:lpstr>Hospitals</vt:lpstr>
      <vt:lpstr>PowerPoint Presentation</vt:lpstr>
      <vt:lpstr>PowerPoint Presentation</vt:lpstr>
      <vt:lpstr>PowerPoint Presentation</vt:lpstr>
      <vt:lpstr>PowerPoint Presentation</vt:lpstr>
      <vt:lpstr>PowerPoint Presentation</vt:lpstr>
      <vt:lpstr>How It Works </vt:lpstr>
      <vt:lpstr>How It Works </vt:lpstr>
      <vt:lpstr>Our Story </vt:lpstr>
      <vt:lpstr>PowerPoint Presentation</vt:lpstr>
      <vt:lpstr>Contact Us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Karan Juglall</dc:creator>
  <cp:lastModifiedBy>Karan Juglall</cp:lastModifiedBy>
  <cp:revision>1</cp:revision>
  <dcterms:created xsi:type="dcterms:W3CDTF">2026-09-07T07:29:16Z</dcterms:created>
  <dcterms:modified xsi:type="dcterms:W3CDTF">2026-09-07T11:24:26Z</dcterms:modified>
</cp:coreProperties>
</file>